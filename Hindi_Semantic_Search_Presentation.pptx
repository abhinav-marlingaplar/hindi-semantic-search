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558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Hello everyone, we are Abhinav and Saksham. Our CSE413 project is about searching Hindi text. When you type a question into a search box, should the system find only documents that share your exact words, or documents that mean the same thing? We compared those two ideas on Hindi questions, using a classic keyword method called TF-IDF and a newer method built on sentence embeddings. In the next few minutes we will show what we measured, and what we can and cannot claim.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Here is the core idea. Keyword search matches words. If you ask why time passes so fast, it finds a question with the word samay, meaning time, and ranks it high. But a question that means the same, how quickly the days pass, shares no word, so it ranks low. Semantic search turns each sentence into an embedding, which is just a list of numbers that captures meaning, so the paraphrase lands close to the query. This example is only illustrative. Our research question is whether this helps for Hindi.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Our data is a Hindi collection of Quora duplicate questions, meaning questions that ask the same thing in different words. The corpus has 5,046 questions, which is the pile we search through. We have 50 queries, and 70 relevance judgments, which are simple yes or no labels saying which documents are right answers. That is about 1.4 per query. We only cleaned the text. We also checked that no query matches itself, and that three queries with identical answers do not change the ranking of methods.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This is our pipeline. A Hindi query and the 5,046 documents are normalised, then passed to six methods. Three are keyword methods: TF-IDF as in our midterm, TF-IDF with a fixed tokenizer, and BM25, a stronger keyword formula. Two are embedding models, MiniLM and multilingual E5, used as released with no fine-tuning. The sixth is a hybrid that merges BM25 and E5. Every method ranks all documents and keeps the top 100, using one shared scoring function. Then we compute metrics, confidence intervals, paired tests and an error analysis.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Before comparing, we audited our midterm baseline. A tokenizer splits text into words. The default one in scikit-learn cuts Hindi words at every vowel sign and joining mark, and drops one-letter pieces. So the word mastar becomes a single leftover fragment. Words with those marks are ninety percent of the corpus, and none of them survive intact. Fixing it grows the vocabulary from 1,556 to 6,172 terms. But honestly, the ranking gain is only plus 0.043, and the interval includes zero, so it is not statistically clear.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Here is how we score the results. Our main metric is nDCG at ten. It looks at the top ten results and gives full credit when the right document is first, less at second or third, as in this small table. We also report MRR and Recall at ten. With only 50 queries, luck matters, so we add bootstrap confidence intervals, paired comparisons, and a Bonferroni correction, which is a stricter test when you make many comparisons. Finally, our metric code matches the ranx library to six decimals.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This is our main result. Each bar is the average nDCG at ten, and the black line is the ninety-five percent confidence interval. The two keyword methods and our midterm baseline sit around 0.65 to 0.69. MiniLM reaches 0.845, and multilingual E5 reaches 0.893. So E5 scores 0.893, against 0.692 for the best TF-IDF and 0.658 for BM25. E5 is also best on MRR and Recall at ten. The hybrid lands in between, at 0.775, which we explain shortly.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Bars can overlap by luck, so we tested the paired differences. Each dot is a difference between two methods, and a line is its interval. If the line does not cross zero, the difference is significant. MiniLM and E5 both beat BM25, and all four dark results survive the Bonferroni correction. The hybrid is significantly worse than E5. The grey ones are inconclusive. In particular, E5 is ahead of MiniLM numerically, but the interval includes zero, so we cannot claim E5 is better than MiniLM.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Why do embeddings win? Comparing BM25 and E5 query by query, embeddings win on 21 queries, keyword search on only 2, both solve 24, and both struggle on 3. Sixteen queries are solved perfectly by every method. The table shows examples, giving the rank of the first relevant document. A spelling difference put it at rank 68 for BM25 but rank 1 for E5. Keyword search wins only on a generic question. Some hard cases come from translation inconsistencies in the dataset.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Now a negative result. We expected the hybrid to combine the best of both, but it was significantly worse than E5 alone, by 0.118. It was worse on 13 queries, similar on 34, and better on only 3. Our hypothesis is that reciprocal rank fusion gives both methods an equal vote. A relevant document ranked 68th by BM25 but first by E5 scores 0.0242, below a non-relevant one ranked first and fifth, at 0.0318. We tested equal weights only, so this applies only to that scheme.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To conclude. First, embeddings clearly beat TF-IDF and BM25 on this dataset. Second, the simple hybrid does not help, and the tokenizer bug is real, but its effect is not statistically clear. Third, several smaller differences cannot be resolved with only 50 queries. So we recommend using a multilingual embedding model alone, with MiniLM as a reasonable lighter choice. Our limits: one small dataset of short, machine-translated questions with incomplete labels. Future work: weighted fusion, a reranker, longer documents, English-to-Hindi search.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rtlCol="0"/>
          <a:lstStyle>
            <a:lvl1pPr marL="0" indent="0" algn="l">
              <a:buNone/>
              <a:defRPr lang="en-US" sz="2800" b="1" dirty="0">
                <a:solidFill>
                  <a:srgbClr val="1A1A1A"/>
                </a:solidFill>
                <a:latin typeface="Georgia" pitchFamily="34" charset="0"/>
                <a:ea typeface="Georgia" pitchFamily="34" charset="-122"/>
                <a:cs typeface="Georgia" pitchFamily="34" charset="-120"/>
              </a:defRPr>
            </a:lvl1pPr>
          </a:lstStyle>
          <a:p>
            <a:pPr marL="0" indent="0" algn="l">
              <a:buNone/>
            </a:pPr>
            <a:endParaRPr lang="en-US" sz="2800" dirty="0"/>
          </a:p>
        </p:txBody>
      </p:sp>
      <p:sp>
        <p:nvSpPr>
          <p:cNvPr id="3" name="Shape 0"/>
          <p:cNvSpPr/>
          <p:nvPr/>
        </p:nvSpPr>
        <p:spPr>
          <a:xfrm>
            <a:off x="548640" y="1051560"/>
            <a:ext cx="8046720" cy="0"/>
          </a:xfrm>
          <a:prstGeom prst="line">
            <a:avLst/>
          </a:prstGeom>
          <a:noFill/>
          <a:ln w="9525">
            <a:solidFill>
              <a:srgbClr val="C3C9D0"/>
            </a:solidFill>
            <a:prstDash val="solid"/>
          </a:ln>
        </p:spPr>
      </p:sp>
      <p:sp>
        <p:nvSpPr>
          <p:cNvPr id="4" name="Text 1"/>
          <p:cNvSpPr/>
          <p:nvPr/>
        </p:nvSpPr>
        <p:spPr>
          <a:xfrm>
            <a:off x="548640" y="4727448"/>
            <a:ext cx="5486400" cy="228600"/>
          </a:xfrm>
          <a:prstGeom prst="rect">
            <a:avLst/>
          </a:prstGeom>
          <a:noFill/>
          <a:ln/>
        </p:spPr>
        <p:txBody>
          <a:bodyPr wrap="square" lIns="0" tIns="0" rIns="0" bIns="0" rtlCol="0" anchor="ctr"/>
          <a:lstStyle/>
          <a:p>
            <a:pPr marL="0" indent="0" algn="l">
              <a:buNone/>
            </a:pPr>
            <a:r>
              <a:rPr lang="en-US" sz="1000" dirty="0">
                <a:solidFill>
                  <a:srgbClr val="6C7A89"/>
                </a:solidFill>
                <a:latin typeface="Calibri" pitchFamily="34" charset="0"/>
                <a:ea typeface="Calibri" pitchFamily="34" charset="-122"/>
                <a:cs typeface="Calibri" pitchFamily="34" charset="-120"/>
              </a:rPr>
              <a:t>Semantic Search for Hindi Documents</a:t>
            </a:r>
            <a:endParaRPr lang="en-US" sz="10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640080"/>
            <a:ext cx="8046720" cy="1554480"/>
          </a:xfrm>
          <a:prstGeom prst="rect">
            <a:avLst/>
          </a:prstGeom>
          <a:noFill/>
          <a:ln/>
        </p:spPr>
        <p:txBody>
          <a:bodyPr wrap="square" lIns="0" tIns="0" rIns="0" bIns="0" rtlCol="0" anchor="t"/>
          <a:lstStyle/>
          <a:p>
            <a:pPr marL="0" indent="0" algn="l">
              <a:buNone/>
            </a:pPr>
            <a:r>
              <a:rPr lang="en-US" sz="3000" b="1" dirty="0">
                <a:solidFill>
                  <a:srgbClr val="1A1A1A"/>
                </a:solidFill>
                <a:latin typeface="Georgia" pitchFamily="34" charset="0"/>
                <a:ea typeface="Georgia" pitchFamily="34" charset="-122"/>
                <a:cs typeface="Georgia" pitchFamily="34" charset="-120"/>
              </a:rPr>
              <a:t>Semantic Search for Hindi Documents using Sentence Embeddings</a:t>
            </a:r>
          </a:p>
          <a:p>
            <a:pPr marL="0" indent="0" algn="l">
              <a:buNone/>
            </a:pPr>
            <a:endParaRPr lang="en-US" sz="3000" dirty="0"/>
          </a:p>
        </p:txBody>
      </p:sp>
      <p:sp>
        <p:nvSpPr>
          <p:cNvPr id="4" name="Text 1"/>
          <p:cNvSpPr txBox="1"/>
          <p:nvPr/>
        </p:nvSpPr>
        <p:spPr>
          <a:xfrm>
            <a:off x="548640" y="2331720"/>
            <a:ext cx="8046720" cy="365760"/>
          </a:xfrm>
          <a:prstGeom prst="rect">
            <a:avLst/>
          </a:prstGeom>
          <a:noFill/>
          <a:ln/>
        </p:spPr>
        <p:txBody>
          <a:bodyPr wrap="square" lIns="0" tIns="0" rIns="0" bIns="0" rtlCol="0" anchor="t"/>
          <a:lstStyle/>
          <a:p>
            <a:pPr marL="0" indent="0" algn="l">
              <a:buNone/>
            </a:pPr>
            <a:r>
              <a:rPr lang="en-US" sz="1800" dirty="0">
                <a:solidFill>
                  <a:srgbClr val="1F3A5F"/>
                </a:solidFill>
                <a:latin typeface="Calibri" pitchFamily="34" charset="0"/>
                <a:ea typeface="Calibri" pitchFamily="34" charset="-122"/>
                <a:cs typeface="Calibri" pitchFamily="34" charset="-120"/>
              </a:rPr>
              <a:t>A Comparative Study of TF-IDF and Semantic Retrieval</a:t>
            </a:r>
            <a:endParaRPr lang="en-US" sz="1800" dirty="0"/>
          </a:p>
        </p:txBody>
      </p:sp>
      <p:sp>
        <p:nvSpPr>
          <p:cNvPr id="5" name="Shape 2"/>
          <p:cNvSpPr/>
          <p:nvPr/>
        </p:nvSpPr>
        <p:spPr>
          <a:xfrm>
            <a:off x="548640" y="2880360"/>
            <a:ext cx="8046720" cy="0"/>
          </a:xfrm>
          <a:prstGeom prst="line">
            <a:avLst/>
          </a:prstGeom>
          <a:noFill/>
          <a:ln w="9525">
            <a:solidFill>
              <a:srgbClr val="C3C9D0"/>
            </a:solidFill>
            <a:prstDash val="solid"/>
          </a:ln>
        </p:spPr>
        <p:txBody>
          <a:bodyPr/>
          <a:lstStyle/>
          <a:p>
            <a:endParaRPr lang="en-US"/>
          </a:p>
        </p:txBody>
      </p:sp>
      <p:sp>
        <p:nvSpPr>
          <p:cNvPr id="6" name="Text 3"/>
          <p:cNvSpPr txBox="1"/>
          <p:nvPr/>
        </p:nvSpPr>
        <p:spPr>
          <a:xfrm>
            <a:off x="548640" y="3108960"/>
            <a:ext cx="8046720" cy="1051560"/>
          </a:xfrm>
          <a:prstGeom prst="rect">
            <a:avLst/>
          </a:prstGeom>
          <a:noFill/>
          <a:ln/>
        </p:spPr>
        <p:txBody>
          <a:bodyPr wrap="square" lIns="0" tIns="0" rIns="0" bIns="0" rtlCol="0" anchor="t"/>
          <a:lstStyle/>
          <a:p>
            <a:pPr marL="0" indent="0" algn="l">
              <a:spcAft>
                <a:spcPts val="200"/>
              </a:spcAft>
              <a:buNone/>
            </a:pPr>
            <a:r>
              <a:rPr lang="en-US" sz="1600" dirty="0">
                <a:solidFill>
                  <a:srgbClr val="1A1A1A"/>
                </a:solidFill>
                <a:latin typeface="Calibri" pitchFamily="34" charset="0"/>
                <a:ea typeface="Calibri" pitchFamily="34" charset="-122"/>
                <a:cs typeface="Calibri" pitchFamily="34" charset="-120"/>
              </a:rPr>
              <a:t>Team Number 8:</a:t>
            </a:r>
          </a:p>
          <a:p>
            <a:pPr marL="0" indent="0" algn="l">
              <a:spcAft>
                <a:spcPts val="200"/>
              </a:spcAft>
              <a:buNone/>
            </a:pPr>
            <a:r>
              <a:rPr lang="en-US" sz="1600" dirty="0">
                <a:solidFill>
                  <a:srgbClr val="1A1A1A"/>
                </a:solidFill>
                <a:latin typeface="Calibri" pitchFamily="34" charset="0"/>
                <a:ea typeface="Calibri" pitchFamily="34" charset="-122"/>
                <a:cs typeface="Calibri" pitchFamily="34" charset="-120"/>
              </a:rPr>
              <a:t>Abhinav Marlingaplar (2023BCD0013)</a:t>
            </a:r>
            <a:endParaRPr lang="en-US" sz="1600" dirty="0"/>
          </a:p>
          <a:p>
            <a:pPr marL="0" indent="0" algn="l">
              <a:spcAft>
                <a:spcPts val="200"/>
              </a:spcAft>
              <a:buNone/>
            </a:pPr>
            <a:r>
              <a:rPr lang="en-US" sz="1600" dirty="0">
                <a:solidFill>
                  <a:srgbClr val="1A1A1A"/>
                </a:solidFill>
                <a:latin typeface="Calibri" pitchFamily="34" charset="0"/>
                <a:ea typeface="Calibri" pitchFamily="34" charset="-122"/>
                <a:cs typeface="Calibri" pitchFamily="34" charset="-120"/>
              </a:rPr>
              <a:t>Saksham Saklani (2023BCD0049)</a:t>
            </a:r>
            <a:endParaRPr lang="en-US" sz="1600" dirty="0"/>
          </a:p>
        </p:txBody>
      </p:sp>
      <p:sp>
        <p:nvSpPr>
          <p:cNvPr id="7" name="Text 4"/>
          <p:cNvSpPr txBox="1"/>
          <p:nvPr/>
        </p:nvSpPr>
        <p:spPr>
          <a:xfrm>
            <a:off x="548640" y="4160520"/>
            <a:ext cx="8046720" cy="640080"/>
          </a:xfrm>
          <a:prstGeom prst="rect">
            <a:avLst/>
          </a:prstGeom>
          <a:noFill/>
          <a:ln/>
        </p:spPr>
        <p:txBody>
          <a:bodyPr wrap="square" lIns="0" tIns="0" rIns="0" bIns="0" rtlCol="0" anchor="t"/>
          <a:lstStyle/>
          <a:p>
            <a:pPr marL="0" indent="0" algn="l">
              <a:spcAft>
                <a:spcPts val="200"/>
              </a:spcAft>
              <a:buNone/>
            </a:pPr>
            <a:r>
              <a:rPr lang="en-US" sz="1600" dirty="0">
                <a:solidFill>
                  <a:srgbClr val="6C7A89"/>
                </a:solidFill>
                <a:latin typeface="Calibri" pitchFamily="34" charset="0"/>
                <a:ea typeface="Calibri" pitchFamily="34" charset="-122"/>
                <a:cs typeface="Calibri" pitchFamily="34" charset="-120"/>
              </a:rPr>
              <a:t>CSE413 Speech and Natural Language Processing, Group Project</a:t>
            </a:r>
            <a:endParaRPr lang="en-US" sz="1600" dirty="0"/>
          </a:p>
          <a:p>
            <a:pPr marL="0" indent="0" algn="l">
              <a:spcAft>
                <a:spcPts val="200"/>
              </a:spcAft>
              <a:buNone/>
            </a:pPr>
            <a:r>
              <a:rPr lang="en-US" sz="1600" dirty="0">
                <a:solidFill>
                  <a:srgbClr val="6C7A89"/>
                </a:solidFill>
                <a:latin typeface="Calibri" pitchFamily="34" charset="0"/>
                <a:ea typeface="Calibri" pitchFamily="34" charset="-122"/>
                <a:cs typeface="Calibri" pitchFamily="34" charset="-120"/>
              </a:rPr>
              <a:t>Indian Institute of Information Technology Kottayam.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Words versus meaning</a:t>
            </a:r>
            <a:endParaRPr lang="en-US" sz="2800" dirty="0"/>
          </a:p>
        </p:txBody>
      </p:sp>
      <p:sp>
        <p:nvSpPr>
          <p:cNvPr id="4" name="Text 1"/>
          <p:cNvSpPr txBox="1"/>
          <p:nvPr/>
        </p:nvSpPr>
        <p:spPr>
          <a:xfrm>
            <a:off x="548640" y="1188720"/>
            <a:ext cx="8046720" cy="27432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Keyword search matches words. Embeddings, lists of numbers, match meaning.</a:t>
            </a:r>
            <a:endParaRPr lang="en-US" sz="1600" dirty="0"/>
          </a:p>
        </p:txBody>
      </p:sp>
      <p:sp>
        <p:nvSpPr>
          <p:cNvPr id="5" name="Text 2"/>
          <p:cNvSpPr txBox="1"/>
          <p:nvPr/>
        </p:nvSpPr>
        <p:spPr>
          <a:xfrm>
            <a:off x="548640" y="1645920"/>
            <a:ext cx="8046720" cy="384048"/>
          </a:xfrm>
          <a:prstGeom prst="rect">
            <a:avLst/>
          </a:prstGeom>
          <a:noFill/>
          <a:ln w="9525">
            <a:solidFill>
              <a:srgbClr val="1A1A1A"/>
            </a:solidFill>
          </a:ln>
        </p:spPr>
        <p:txBody>
          <a:bodyPr wrap="square" lIns="508" tIns="508" rIns="508" bIns="508" rtlCol="0" anchor="ctr"/>
          <a:lstStyle/>
          <a:p>
            <a:pPr marL="0" indent="0" algn="ctr">
              <a:buNone/>
            </a:pPr>
            <a:r>
              <a:rPr lang="en-US" sz="1600" b="1" dirty="0">
                <a:solidFill>
                  <a:srgbClr val="1A1A1A"/>
                </a:solidFill>
                <a:latin typeface="Nirmala UI" pitchFamily="34" charset="0"/>
                <a:ea typeface="Nirmala UI" pitchFamily="34" charset="-122"/>
                <a:cs typeface="Nirmala UI" pitchFamily="34" charset="-120"/>
              </a:rPr>
              <a:t>समय इतनी तेजी से क्यों गुजरता है?</a:t>
            </a:r>
            <a:r>
              <a:rPr lang="en-US" sz="1400" dirty="0">
                <a:solidFill>
                  <a:srgbClr val="6C7A89"/>
                </a:solidFill>
                <a:latin typeface="Calibri" pitchFamily="34" charset="0"/>
                <a:ea typeface="Calibri" pitchFamily="34" charset="-122"/>
                <a:cs typeface="Calibri" pitchFamily="34" charset="-120"/>
              </a:rPr>
              <a:t>   Why does time pass so fast?</a:t>
            </a:r>
            <a:endParaRPr lang="en-US" sz="1400" dirty="0"/>
          </a:p>
        </p:txBody>
      </p:sp>
      <p:sp>
        <p:nvSpPr>
          <p:cNvPr id="6" name="Text 3"/>
          <p:cNvSpPr txBox="1"/>
          <p:nvPr/>
        </p:nvSpPr>
        <p:spPr>
          <a:xfrm>
            <a:off x="4937760" y="2075688"/>
            <a:ext cx="3657600" cy="182880"/>
          </a:xfrm>
          <a:prstGeom prst="rect">
            <a:avLst/>
          </a:prstGeom>
          <a:noFill/>
          <a:ln/>
        </p:spPr>
        <p:txBody>
          <a:bodyPr wrap="square" lIns="0" tIns="0" rIns="0" bIns="0" rtlCol="0" anchor="t"/>
          <a:lstStyle/>
          <a:p>
            <a:pPr marL="0" indent="0" algn="r">
              <a:buNone/>
            </a:pPr>
            <a:r>
              <a:rPr lang="en-US" sz="1200" dirty="0">
                <a:solidFill>
                  <a:srgbClr val="6C7A89"/>
                </a:solidFill>
                <a:latin typeface="Calibri" pitchFamily="34" charset="0"/>
                <a:ea typeface="Calibri" pitchFamily="34" charset="-122"/>
                <a:cs typeface="Calibri" pitchFamily="34" charset="-120"/>
              </a:rPr>
              <a:t>Illustrative example, not from the dataset</a:t>
            </a:r>
            <a:endParaRPr lang="en-US" sz="1200" dirty="0"/>
          </a:p>
        </p:txBody>
      </p:sp>
      <p:sp>
        <p:nvSpPr>
          <p:cNvPr id="7" name="Text 4"/>
          <p:cNvSpPr txBox="1"/>
          <p:nvPr/>
        </p:nvSpPr>
        <p:spPr>
          <a:xfrm>
            <a:off x="548640" y="2331720"/>
            <a:ext cx="3749040" cy="256032"/>
          </a:xfrm>
          <a:prstGeom prst="rect">
            <a:avLst/>
          </a:prstGeom>
          <a:noFill/>
          <a:ln/>
        </p:spPr>
        <p:txBody>
          <a:bodyPr wrap="square" lIns="0" tIns="0" rIns="0" bIns="0" rtlCol="0" anchor="t"/>
          <a:lstStyle/>
          <a:p>
            <a:pPr marL="0" indent="0" algn="l">
              <a:buNone/>
            </a:pPr>
            <a:r>
              <a:rPr lang="en-US" sz="1400" b="1" dirty="0">
                <a:solidFill>
                  <a:srgbClr val="6C7A89"/>
                </a:solidFill>
                <a:latin typeface="Calibri" pitchFamily="34" charset="0"/>
                <a:ea typeface="Calibri" pitchFamily="34" charset="-122"/>
                <a:cs typeface="Calibri" pitchFamily="34" charset="-120"/>
              </a:rPr>
              <a:t>Keyword search</a:t>
            </a:r>
            <a:endParaRPr lang="en-US" sz="1400" dirty="0"/>
          </a:p>
        </p:txBody>
      </p:sp>
      <p:sp>
        <p:nvSpPr>
          <p:cNvPr id="8" name="Text 5"/>
          <p:cNvSpPr txBox="1"/>
          <p:nvPr/>
        </p:nvSpPr>
        <p:spPr>
          <a:xfrm>
            <a:off x="4846320" y="2331720"/>
            <a:ext cx="3749040" cy="256032"/>
          </a:xfrm>
          <a:prstGeom prst="rect">
            <a:avLst/>
          </a:prstGeom>
          <a:noFill/>
          <a:ln/>
        </p:spPr>
        <p:txBody>
          <a:bodyPr wrap="square" lIns="0" tIns="0" rIns="0" bIns="0" rtlCol="0" anchor="t"/>
          <a:lstStyle/>
          <a:p>
            <a:pPr marL="0" indent="0" algn="l">
              <a:buNone/>
            </a:pPr>
            <a:r>
              <a:rPr lang="en-US" sz="1400" b="1" dirty="0">
                <a:solidFill>
                  <a:srgbClr val="1F3A5F"/>
                </a:solidFill>
                <a:latin typeface="Calibri" pitchFamily="34" charset="0"/>
                <a:ea typeface="Calibri" pitchFamily="34" charset="-122"/>
                <a:cs typeface="Calibri" pitchFamily="34" charset="-120"/>
              </a:rPr>
              <a:t>Semantic search</a:t>
            </a:r>
            <a:endParaRPr lang="en-US" sz="1400" dirty="0"/>
          </a:p>
        </p:txBody>
      </p:sp>
      <p:sp>
        <p:nvSpPr>
          <p:cNvPr id="9" name="Text 6"/>
          <p:cNvSpPr txBox="1"/>
          <p:nvPr/>
        </p:nvSpPr>
        <p:spPr>
          <a:xfrm>
            <a:off x="548640" y="2633472"/>
            <a:ext cx="3749040" cy="347472"/>
          </a:xfrm>
          <a:prstGeom prst="rect">
            <a:avLst/>
          </a:prstGeom>
          <a:noFill/>
          <a:ln w="9525">
            <a:solidFill>
              <a:srgbClr val="6C7A89"/>
            </a:solidFill>
          </a:ln>
        </p:spPr>
        <p:txBody>
          <a:bodyPr wrap="square" lIns="508" tIns="508" rIns="508" bIns="508" rtlCol="0" anchor="ctr"/>
          <a:lstStyle/>
          <a:p>
            <a:pPr marL="0" indent="0" algn="ctr">
              <a:buNone/>
            </a:pPr>
            <a:r>
              <a:rPr lang="en-US" sz="1600" dirty="0">
                <a:solidFill>
                  <a:srgbClr val="1A1A1A"/>
                </a:solidFill>
                <a:latin typeface="Nirmala UI" pitchFamily="34" charset="0"/>
                <a:ea typeface="Nirmala UI" pitchFamily="34" charset="-122"/>
                <a:cs typeface="Nirmala UI" pitchFamily="34" charset="-120"/>
              </a:rPr>
              <a:t>समय का सदुपयोग कैसे करें?</a:t>
            </a:r>
            <a:endParaRPr lang="en-US" sz="1600" dirty="0"/>
          </a:p>
        </p:txBody>
      </p:sp>
      <p:sp>
        <p:nvSpPr>
          <p:cNvPr id="10" name="Text 7"/>
          <p:cNvSpPr txBox="1"/>
          <p:nvPr/>
        </p:nvSpPr>
        <p:spPr>
          <a:xfrm>
            <a:off x="548640" y="3008376"/>
            <a:ext cx="3749040" cy="256032"/>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Shares the word समय: ranked high</a:t>
            </a:r>
            <a:endParaRPr lang="en-US" sz="1400" dirty="0"/>
          </a:p>
        </p:txBody>
      </p:sp>
      <p:sp>
        <p:nvSpPr>
          <p:cNvPr id="11" name="Text 8"/>
          <p:cNvSpPr txBox="1"/>
          <p:nvPr/>
        </p:nvSpPr>
        <p:spPr>
          <a:xfrm>
            <a:off x="548640" y="3346704"/>
            <a:ext cx="3749040" cy="347472"/>
          </a:xfrm>
          <a:prstGeom prst="rect">
            <a:avLst/>
          </a:prstGeom>
          <a:noFill/>
          <a:ln w="9525">
            <a:solidFill>
              <a:srgbClr val="6C7A89"/>
            </a:solidFill>
          </a:ln>
        </p:spPr>
        <p:txBody>
          <a:bodyPr wrap="square" lIns="508" tIns="508" rIns="508" bIns="508" rtlCol="0" anchor="ctr"/>
          <a:lstStyle/>
          <a:p>
            <a:pPr marL="0" indent="0" algn="ctr">
              <a:buNone/>
            </a:pPr>
            <a:r>
              <a:rPr lang="en-US" sz="1600" dirty="0">
                <a:solidFill>
                  <a:srgbClr val="1A1A1A"/>
                </a:solidFill>
                <a:latin typeface="Nirmala UI" pitchFamily="34" charset="0"/>
                <a:ea typeface="Nirmala UI" pitchFamily="34" charset="-122"/>
                <a:cs typeface="Nirmala UI" pitchFamily="34" charset="-120"/>
              </a:rPr>
              <a:t>दिन कितनी जल्दी बीत जाते हैं?</a:t>
            </a:r>
            <a:endParaRPr lang="en-US" sz="1600" dirty="0"/>
          </a:p>
        </p:txBody>
      </p:sp>
      <p:sp>
        <p:nvSpPr>
          <p:cNvPr id="12" name="Text 9"/>
          <p:cNvSpPr txBox="1"/>
          <p:nvPr/>
        </p:nvSpPr>
        <p:spPr>
          <a:xfrm>
            <a:off x="548640" y="3721608"/>
            <a:ext cx="3749040" cy="256032"/>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No shared word: ranked low, same meaning</a:t>
            </a:r>
            <a:endParaRPr lang="en-US" sz="1400" dirty="0"/>
          </a:p>
        </p:txBody>
      </p:sp>
      <p:sp>
        <p:nvSpPr>
          <p:cNvPr id="13" name="Text 10"/>
          <p:cNvSpPr txBox="1"/>
          <p:nvPr/>
        </p:nvSpPr>
        <p:spPr>
          <a:xfrm>
            <a:off x="4846320" y="2633472"/>
            <a:ext cx="3749040" cy="347472"/>
          </a:xfrm>
          <a:prstGeom prst="rect">
            <a:avLst/>
          </a:prstGeom>
          <a:noFill/>
          <a:ln w="9525">
            <a:solidFill>
              <a:srgbClr val="1F3A5F"/>
            </a:solidFill>
          </a:ln>
        </p:spPr>
        <p:txBody>
          <a:bodyPr wrap="square" lIns="508" tIns="508" rIns="508" bIns="508" rtlCol="0" anchor="ctr"/>
          <a:lstStyle/>
          <a:p>
            <a:pPr marL="0" indent="0" algn="ctr">
              <a:buNone/>
            </a:pPr>
            <a:r>
              <a:rPr lang="en-US" sz="1600" dirty="0">
                <a:solidFill>
                  <a:srgbClr val="1A1A1A"/>
                </a:solidFill>
                <a:latin typeface="Nirmala UI" pitchFamily="34" charset="0"/>
                <a:ea typeface="Nirmala UI" pitchFamily="34" charset="-122"/>
                <a:cs typeface="Nirmala UI" pitchFamily="34" charset="-120"/>
              </a:rPr>
              <a:t>दिन कितनी जल्दी बीत जाते हैं?</a:t>
            </a:r>
            <a:endParaRPr lang="en-US" sz="1600" dirty="0"/>
          </a:p>
        </p:txBody>
      </p:sp>
      <p:sp>
        <p:nvSpPr>
          <p:cNvPr id="14" name="Text 11"/>
          <p:cNvSpPr txBox="1"/>
          <p:nvPr/>
        </p:nvSpPr>
        <p:spPr>
          <a:xfrm>
            <a:off x="4846320" y="3008376"/>
            <a:ext cx="3749040" cy="256032"/>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Same meaning as the query: ranked high</a:t>
            </a:r>
            <a:endParaRPr lang="en-US" sz="1400" dirty="0"/>
          </a:p>
        </p:txBody>
      </p:sp>
      <p:sp>
        <p:nvSpPr>
          <p:cNvPr id="15" name="Shape 12"/>
          <p:cNvSpPr/>
          <p:nvPr/>
        </p:nvSpPr>
        <p:spPr>
          <a:xfrm>
            <a:off x="4526280" y="2377440"/>
            <a:ext cx="0" cy="1463040"/>
          </a:xfrm>
          <a:prstGeom prst="line">
            <a:avLst/>
          </a:prstGeom>
          <a:noFill/>
          <a:ln w="9525">
            <a:solidFill>
              <a:srgbClr val="C3C9D0"/>
            </a:solidFill>
            <a:prstDash val="solid"/>
          </a:ln>
        </p:spPr>
        <p:txBody>
          <a:bodyPr/>
          <a:lstStyle/>
          <a:p>
            <a:endParaRPr lang="en-US"/>
          </a:p>
        </p:txBody>
      </p:sp>
      <p:sp>
        <p:nvSpPr>
          <p:cNvPr id="16" name="Shape 13"/>
          <p:cNvSpPr/>
          <p:nvPr/>
        </p:nvSpPr>
        <p:spPr>
          <a:xfrm>
            <a:off x="548640" y="3977640"/>
            <a:ext cx="8046720" cy="0"/>
          </a:xfrm>
          <a:prstGeom prst="line">
            <a:avLst/>
          </a:prstGeom>
          <a:noFill/>
          <a:ln w="9525">
            <a:solidFill>
              <a:srgbClr val="C3C9D0"/>
            </a:solidFill>
            <a:prstDash val="solid"/>
          </a:ln>
        </p:spPr>
        <p:txBody>
          <a:bodyPr/>
          <a:lstStyle/>
          <a:p>
            <a:endParaRPr lang="en-US"/>
          </a:p>
        </p:txBody>
      </p:sp>
      <p:sp>
        <p:nvSpPr>
          <p:cNvPr id="17" name="Text 14"/>
          <p:cNvSpPr txBox="1"/>
          <p:nvPr/>
        </p:nvSpPr>
        <p:spPr>
          <a:xfrm>
            <a:off x="548640" y="4069080"/>
            <a:ext cx="8046720" cy="548640"/>
          </a:xfrm>
          <a:prstGeom prst="rect">
            <a:avLst/>
          </a:prstGeom>
          <a:noFill/>
          <a:ln/>
        </p:spPr>
        <p:txBody>
          <a:bodyPr wrap="square" lIns="0" tIns="0" rIns="0" bIns="0" rtlCol="0" anchor="t"/>
          <a:lstStyle/>
          <a:p>
            <a:pPr marL="0" indent="0" algn="l">
              <a:buNone/>
            </a:pPr>
            <a:r>
              <a:rPr lang="en-US" sz="1400" b="1" dirty="0">
                <a:solidFill>
                  <a:srgbClr val="1F3A5F"/>
                </a:solidFill>
                <a:latin typeface="Calibri" pitchFamily="34" charset="0"/>
                <a:ea typeface="Calibri" pitchFamily="34" charset="-122"/>
                <a:cs typeface="Calibri" pitchFamily="34" charset="-120"/>
              </a:rPr>
              <a:t>Research question: </a:t>
            </a:r>
            <a:r>
              <a:rPr lang="en-US" sz="1400" dirty="0">
                <a:solidFill>
                  <a:srgbClr val="1A1A1A"/>
                </a:solidFill>
                <a:latin typeface="Calibri" pitchFamily="34" charset="0"/>
                <a:ea typeface="Calibri" pitchFamily="34" charset="-122"/>
                <a:cs typeface="Calibri" pitchFamily="34" charset="-120"/>
              </a:rPr>
              <a:t>Can sentence-embedding-based semantic retrieval provide more meaningful and effective Hindi document retrieval than traditional TF-IDF-based retrieval?</a:t>
            </a:r>
            <a:endParaRPr lang="en-US" sz="14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The dataset</a:t>
            </a:r>
            <a:endParaRPr lang="en-US" sz="2800" dirty="0"/>
          </a:p>
        </p:txBody>
      </p:sp>
      <p:sp>
        <p:nvSpPr>
          <p:cNvPr id="4" name="Text 1"/>
          <p:cNvSpPr txBox="1"/>
          <p:nvPr/>
        </p:nvSpPr>
        <p:spPr>
          <a:xfrm>
            <a:off x="548640" y="1234440"/>
            <a:ext cx="2468880" cy="868680"/>
          </a:xfrm>
          <a:prstGeom prst="rect">
            <a:avLst/>
          </a:prstGeom>
          <a:noFill/>
          <a:ln/>
        </p:spPr>
        <p:txBody>
          <a:bodyPr wrap="square" lIns="0" tIns="0" rIns="0" bIns="0" rtlCol="0" anchor="ctr"/>
          <a:lstStyle/>
          <a:p>
            <a:pPr marL="0" indent="0" algn="l">
              <a:buNone/>
            </a:pPr>
            <a:r>
              <a:rPr lang="en-US" sz="5400" b="1" dirty="0">
                <a:solidFill>
                  <a:srgbClr val="1F3A5F"/>
                </a:solidFill>
                <a:latin typeface="Georgia" pitchFamily="34" charset="0"/>
                <a:ea typeface="Georgia" pitchFamily="34" charset="-122"/>
                <a:cs typeface="Georgia" pitchFamily="34" charset="-120"/>
              </a:rPr>
              <a:t>5,046</a:t>
            </a:r>
            <a:endParaRPr lang="en-US" sz="5400" dirty="0"/>
          </a:p>
        </p:txBody>
      </p:sp>
      <p:sp>
        <p:nvSpPr>
          <p:cNvPr id="5" name="Text 2"/>
          <p:cNvSpPr txBox="1"/>
          <p:nvPr/>
        </p:nvSpPr>
        <p:spPr>
          <a:xfrm>
            <a:off x="548640" y="2148840"/>
            <a:ext cx="2377440" cy="64008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questions in the corpus: the pile we search</a:t>
            </a:r>
            <a:endParaRPr lang="en-US" sz="1600" dirty="0"/>
          </a:p>
        </p:txBody>
      </p:sp>
      <p:sp>
        <p:nvSpPr>
          <p:cNvPr id="6" name="Text 3"/>
          <p:cNvSpPr txBox="1"/>
          <p:nvPr/>
        </p:nvSpPr>
        <p:spPr>
          <a:xfrm>
            <a:off x="3337560" y="1234440"/>
            <a:ext cx="2468880" cy="868680"/>
          </a:xfrm>
          <a:prstGeom prst="rect">
            <a:avLst/>
          </a:prstGeom>
          <a:noFill/>
          <a:ln/>
        </p:spPr>
        <p:txBody>
          <a:bodyPr wrap="square" lIns="0" tIns="0" rIns="0" bIns="0" rtlCol="0" anchor="ctr"/>
          <a:lstStyle/>
          <a:p>
            <a:pPr marL="0" indent="0" algn="l">
              <a:buNone/>
            </a:pPr>
            <a:r>
              <a:rPr lang="en-US" sz="5400" b="1" dirty="0">
                <a:solidFill>
                  <a:srgbClr val="1F3A5F"/>
                </a:solidFill>
                <a:latin typeface="Georgia" pitchFamily="34" charset="0"/>
                <a:ea typeface="Georgia" pitchFamily="34" charset="-122"/>
                <a:cs typeface="Georgia" pitchFamily="34" charset="-120"/>
              </a:rPr>
              <a:t>50</a:t>
            </a:r>
            <a:endParaRPr lang="en-US" sz="5400" dirty="0"/>
          </a:p>
        </p:txBody>
      </p:sp>
      <p:sp>
        <p:nvSpPr>
          <p:cNvPr id="7" name="Text 4"/>
          <p:cNvSpPr txBox="1"/>
          <p:nvPr/>
        </p:nvSpPr>
        <p:spPr>
          <a:xfrm>
            <a:off x="3337560" y="2148840"/>
            <a:ext cx="2377440" cy="64008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queries: the questions we search with</a:t>
            </a:r>
            <a:endParaRPr lang="en-US" sz="1600" dirty="0"/>
          </a:p>
        </p:txBody>
      </p:sp>
      <p:sp>
        <p:nvSpPr>
          <p:cNvPr id="8" name="Shape 5"/>
          <p:cNvSpPr/>
          <p:nvPr/>
        </p:nvSpPr>
        <p:spPr>
          <a:xfrm>
            <a:off x="3136392" y="1325880"/>
            <a:ext cx="0" cy="1417320"/>
          </a:xfrm>
          <a:prstGeom prst="line">
            <a:avLst/>
          </a:prstGeom>
          <a:noFill/>
          <a:ln w="9525">
            <a:solidFill>
              <a:srgbClr val="C3C9D0"/>
            </a:solidFill>
            <a:prstDash val="solid"/>
          </a:ln>
        </p:spPr>
        <p:txBody>
          <a:bodyPr/>
          <a:lstStyle/>
          <a:p>
            <a:endParaRPr lang="en-US"/>
          </a:p>
        </p:txBody>
      </p:sp>
      <p:sp>
        <p:nvSpPr>
          <p:cNvPr id="9" name="Text 6"/>
          <p:cNvSpPr txBox="1"/>
          <p:nvPr/>
        </p:nvSpPr>
        <p:spPr>
          <a:xfrm>
            <a:off x="6126480" y="1234440"/>
            <a:ext cx="2468880" cy="868680"/>
          </a:xfrm>
          <a:prstGeom prst="rect">
            <a:avLst/>
          </a:prstGeom>
          <a:noFill/>
          <a:ln/>
        </p:spPr>
        <p:txBody>
          <a:bodyPr wrap="square" lIns="0" tIns="0" rIns="0" bIns="0" rtlCol="0" anchor="ctr"/>
          <a:lstStyle/>
          <a:p>
            <a:pPr marL="0" indent="0" algn="l">
              <a:buNone/>
            </a:pPr>
            <a:r>
              <a:rPr lang="en-US" sz="5400" b="1" dirty="0">
                <a:solidFill>
                  <a:srgbClr val="1F3A5F"/>
                </a:solidFill>
                <a:latin typeface="Georgia" pitchFamily="34" charset="0"/>
                <a:ea typeface="Georgia" pitchFamily="34" charset="-122"/>
                <a:cs typeface="Georgia" pitchFamily="34" charset="-120"/>
              </a:rPr>
              <a:t>70</a:t>
            </a:r>
            <a:endParaRPr lang="en-US" sz="5400" dirty="0"/>
          </a:p>
        </p:txBody>
      </p:sp>
      <p:sp>
        <p:nvSpPr>
          <p:cNvPr id="10" name="Text 7"/>
          <p:cNvSpPr txBox="1"/>
          <p:nvPr/>
        </p:nvSpPr>
        <p:spPr>
          <a:xfrm>
            <a:off x="6126480" y="2148840"/>
            <a:ext cx="2377440" cy="64008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relevance judgments: yes/no labels, 1.4 per query</a:t>
            </a:r>
            <a:endParaRPr lang="en-US" sz="1600" dirty="0"/>
          </a:p>
        </p:txBody>
      </p:sp>
      <p:sp>
        <p:nvSpPr>
          <p:cNvPr id="11" name="Shape 8"/>
          <p:cNvSpPr/>
          <p:nvPr/>
        </p:nvSpPr>
        <p:spPr>
          <a:xfrm>
            <a:off x="5925312" y="1325880"/>
            <a:ext cx="0" cy="1417320"/>
          </a:xfrm>
          <a:prstGeom prst="line">
            <a:avLst/>
          </a:prstGeom>
          <a:noFill/>
          <a:ln w="9525">
            <a:solidFill>
              <a:srgbClr val="C3C9D0"/>
            </a:solidFill>
            <a:prstDash val="solid"/>
          </a:ln>
        </p:spPr>
        <p:txBody>
          <a:bodyPr/>
          <a:lstStyle/>
          <a:p>
            <a:endParaRPr lang="en-US"/>
          </a:p>
        </p:txBody>
      </p:sp>
      <p:sp>
        <p:nvSpPr>
          <p:cNvPr id="12" name="Shape 9"/>
          <p:cNvSpPr/>
          <p:nvPr/>
        </p:nvSpPr>
        <p:spPr>
          <a:xfrm>
            <a:off x="548640" y="3017520"/>
            <a:ext cx="8046720" cy="0"/>
          </a:xfrm>
          <a:prstGeom prst="line">
            <a:avLst/>
          </a:prstGeom>
          <a:noFill/>
          <a:ln w="9525">
            <a:solidFill>
              <a:srgbClr val="C3C9D0"/>
            </a:solidFill>
            <a:prstDash val="solid"/>
          </a:ln>
        </p:spPr>
        <p:txBody>
          <a:bodyPr/>
          <a:lstStyle/>
          <a:p>
            <a:endParaRPr lang="en-US"/>
          </a:p>
        </p:txBody>
      </p:sp>
      <p:sp>
        <p:nvSpPr>
          <p:cNvPr id="13" name="Text 10"/>
          <p:cNvSpPr txBox="1"/>
          <p:nvPr/>
        </p:nvSpPr>
        <p:spPr>
          <a:xfrm>
            <a:off x="548640" y="3200400"/>
            <a:ext cx="3840480" cy="274320"/>
          </a:xfrm>
          <a:prstGeom prst="rect">
            <a:avLst/>
          </a:prstGeom>
          <a:noFill/>
          <a:ln/>
        </p:spPr>
        <p:txBody>
          <a:bodyPr wrap="square" lIns="0" tIns="0" rIns="0" bIns="0" rtlCol="0" anchor="t"/>
          <a:lstStyle/>
          <a:p>
            <a:pPr marL="0" indent="0" algn="l">
              <a:buNone/>
            </a:pPr>
            <a:r>
              <a:rPr lang="en-US" sz="1600" b="1" dirty="0">
                <a:solidFill>
                  <a:srgbClr val="1F3A5F"/>
                </a:solidFill>
                <a:latin typeface="Calibri" pitchFamily="34" charset="0"/>
                <a:ea typeface="Calibri" pitchFamily="34" charset="-122"/>
                <a:cs typeface="Calibri" pitchFamily="34" charset="-120"/>
              </a:rPr>
              <a:t>Source and preprocessing</a:t>
            </a:r>
            <a:endParaRPr lang="en-US" sz="1600" dirty="0"/>
          </a:p>
        </p:txBody>
      </p:sp>
      <p:sp>
        <p:nvSpPr>
          <p:cNvPr id="14" name="Text 11"/>
          <p:cNvSpPr txBox="1"/>
          <p:nvPr/>
        </p:nvSpPr>
        <p:spPr>
          <a:xfrm>
            <a:off x="548640" y="3520440"/>
            <a:ext cx="3840480" cy="1005840"/>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Bharat_NanoQuoraRetrieval_hi: Hindi Quora questions, relevant when they ask the same thing. Text is only normalised (Unicode NFC, whitespace).</a:t>
            </a:r>
            <a:endParaRPr lang="en-US" sz="1400" dirty="0"/>
          </a:p>
        </p:txBody>
      </p:sp>
      <p:sp>
        <p:nvSpPr>
          <p:cNvPr id="15" name="Text 12"/>
          <p:cNvSpPr txBox="1"/>
          <p:nvPr/>
        </p:nvSpPr>
        <p:spPr>
          <a:xfrm>
            <a:off x="4754880" y="3200400"/>
            <a:ext cx="3840480" cy="274320"/>
          </a:xfrm>
          <a:prstGeom prst="rect">
            <a:avLst/>
          </a:prstGeom>
          <a:noFill/>
          <a:ln/>
        </p:spPr>
        <p:txBody>
          <a:bodyPr wrap="square" lIns="0" tIns="0" rIns="0" bIns="0" rtlCol="0" anchor="t"/>
          <a:lstStyle/>
          <a:p>
            <a:pPr marL="0" indent="0" algn="l">
              <a:buNone/>
            </a:pPr>
            <a:r>
              <a:rPr lang="en-US" sz="1600" b="1" dirty="0">
                <a:solidFill>
                  <a:srgbClr val="1F3A5F"/>
                </a:solidFill>
                <a:latin typeface="Calibri" pitchFamily="34" charset="0"/>
                <a:ea typeface="Calibri" pitchFamily="34" charset="-122"/>
                <a:cs typeface="Calibri" pitchFamily="34" charset="-120"/>
              </a:rPr>
              <a:t>Two checks</a:t>
            </a:r>
            <a:endParaRPr lang="en-US" sz="1600" dirty="0"/>
          </a:p>
        </p:txBody>
      </p:sp>
      <p:sp>
        <p:nvSpPr>
          <p:cNvPr id="16" name="Text 13"/>
          <p:cNvSpPr txBox="1"/>
          <p:nvPr/>
        </p:nvSpPr>
        <p:spPr>
          <a:xfrm>
            <a:off x="4754880" y="3520440"/>
            <a:ext cx="3840480" cy="1005840"/>
          </a:xfrm>
          <a:prstGeom prst="rect">
            <a:avLst/>
          </a:prstGeom>
          <a:noFill/>
          <a:ln/>
        </p:spPr>
        <p:txBody>
          <a:bodyPr wrap="square" lIns="0" tIns="0" rIns="0" bIns="0" rtlCol="0" anchor="t"/>
          <a:lstStyle/>
          <a:p>
            <a:pPr marL="0" indent="0" algn="l">
              <a:spcAft>
                <a:spcPts val="400"/>
              </a:spcAft>
              <a:buNone/>
            </a:pPr>
            <a:r>
              <a:rPr lang="en-US" sz="1400" dirty="0">
                <a:solidFill>
                  <a:srgbClr val="1A1A1A"/>
                </a:solidFill>
                <a:latin typeface="Calibri" pitchFamily="34" charset="0"/>
                <a:ea typeface="Calibri" pitchFamily="34" charset="-122"/>
                <a:cs typeface="Calibri" pitchFamily="34" charset="-120"/>
              </a:rPr>
              <a:t>0 queries match themselves.</a:t>
            </a:r>
            <a:endParaRPr lang="en-US" sz="1400" dirty="0"/>
          </a:p>
          <a:p>
            <a:pPr marL="0" indent="0" algn="l">
              <a:spcAft>
                <a:spcPts val="400"/>
              </a:spcAft>
              <a:buNone/>
            </a:pPr>
            <a:r>
              <a:rPr lang="en-US" sz="1400" dirty="0">
                <a:solidFill>
                  <a:srgbClr val="1A1A1A"/>
                </a:solidFill>
                <a:latin typeface="Calibri" pitchFamily="34" charset="0"/>
                <a:ea typeface="Calibri" pitchFamily="34" charset="-122"/>
                <a:cs typeface="Calibri" pitchFamily="34" charset="-120"/>
              </a:rPr>
              <a:t>3 queries have an identical relevant document; removing them does not change the ranking of methods.</a:t>
            </a:r>
            <a:endParaRPr lang="en-US" sz="14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Six methods, one pipeline</a:t>
            </a:r>
            <a:endParaRPr lang="en-US" sz="2800" dirty="0"/>
          </a:p>
        </p:txBody>
      </p:sp>
      <p:sp>
        <p:nvSpPr>
          <p:cNvPr id="4" name="Text 1"/>
          <p:cNvSpPr txBox="1"/>
          <p:nvPr/>
        </p:nvSpPr>
        <p:spPr>
          <a:xfrm>
            <a:off x="548640" y="1188720"/>
            <a:ext cx="8046720" cy="274320"/>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All six methods run through one shared scoring function.</a:t>
            </a:r>
            <a:endParaRPr lang="en-US" sz="1400" dirty="0"/>
          </a:p>
        </p:txBody>
      </p:sp>
      <p:sp>
        <p:nvSpPr>
          <p:cNvPr id="5" name="Text 2"/>
          <p:cNvSpPr txBox="1"/>
          <p:nvPr/>
        </p:nvSpPr>
        <p:spPr>
          <a:xfrm>
            <a:off x="548640" y="2162556"/>
            <a:ext cx="1188720" cy="914400"/>
          </a:xfrm>
          <a:prstGeom prst="rect">
            <a:avLst/>
          </a:prstGeom>
          <a:noFill/>
          <a:ln w="9525">
            <a:solidFill>
              <a:srgbClr val="1A1A1A"/>
            </a:solidFill>
          </a:ln>
        </p:spPr>
        <p:txBody>
          <a:bodyPr wrap="square" lIns="508" tIns="508" rIns="508" bIns="508"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Hindi query and 5,046 documents</a:t>
            </a:r>
            <a:endParaRPr lang="en-US" sz="1400" dirty="0"/>
          </a:p>
        </p:txBody>
      </p:sp>
      <p:sp>
        <p:nvSpPr>
          <p:cNvPr id="6" name="Text 3"/>
          <p:cNvSpPr txBox="1"/>
          <p:nvPr/>
        </p:nvSpPr>
        <p:spPr>
          <a:xfrm>
            <a:off x="1993392" y="2299716"/>
            <a:ext cx="914400" cy="640080"/>
          </a:xfrm>
          <a:prstGeom prst="rect">
            <a:avLst/>
          </a:prstGeom>
          <a:noFill/>
          <a:ln w="9525">
            <a:solidFill>
              <a:srgbClr val="1A1A1A"/>
            </a:solidFill>
          </a:ln>
        </p:spPr>
        <p:txBody>
          <a:bodyPr wrap="square" lIns="508" tIns="508" rIns="508" bIns="508"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Normalise text</a:t>
            </a:r>
            <a:endParaRPr lang="en-US" sz="1400" dirty="0"/>
          </a:p>
        </p:txBody>
      </p:sp>
      <p:sp>
        <p:nvSpPr>
          <p:cNvPr id="7" name="Text 4"/>
          <p:cNvSpPr txBox="1"/>
          <p:nvPr/>
        </p:nvSpPr>
        <p:spPr>
          <a:xfrm>
            <a:off x="3163824" y="1600200"/>
            <a:ext cx="2926080" cy="301752"/>
          </a:xfrm>
          <a:prstGeom prst="rect">
            <a:avLst/>
          </a:prstGeom>
          <a:solidFill>
            <a:srgbClr val="6C7A89"/>
          </a:solidFill>
          <a:ln w="9525">
            <a:solidFill>
              <a:srgbClr val="6C7A89"/>
            </a:solidFill>
          </a:ln>
        </p:spPr>
        <p:txBody>
          <a:bodyPr wrap="square" lIns="508" tIns="508" rIns="508" bIns="508"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TF-IDF (default, midterm)</a:t>
            </a:r>
            <a:endParaRPr lang="en-US" sz="1400" dirty="0"/>
          </a:p>
        </p:txBody>
      </p:sp>
      <p:sp>
        <p:nvSpPr>
          <p:cNvPr id="8" name="Text 5"/>
          <p:cNvSpPr txBox="1"/>
          <p:nvPr/>
        </p:nvSpPr>
        <p:spPr>
          <a:xfrm>
            <a:off x="3163824" y="1947672"/>
            <a:ext cx="2926080" cy="301752"/>
          </a:xfrm>
          <a:prstGeom prst="rect">
            <a:avLst/>
          </a:prstGeom>
          <a:solidFill>
            <a:srgbClr val="6C7A89"/>
          </a:solidFill>
          <a:ln w="9525">
            <a:solidFill>
              <a:srgbClr val="6C7A89"/>
            </a:solidFill>
          </a:ln>
        </p:spPr>
        <p:txBody>
          <a:bodyPr wrap="square" lIns="508" tIns="508" rIns="508" bIns="508"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TF-IDF (fixed tokenizer)</a:t>
            </a:r>
            <a:endParaRPr lang="en-US" sz="1400" dirty="0"/>
          </a:p>
        </p:txBody>
      </p:sp>
      <p:sp>
        <p:nvSpPr>
          <p:cNvPr id="9" name="Text 6"/>
          <p:cNvSpPr txBox="1"/>
          <p:nvPr/>
        </p:nvSpPr>
        <p:spPr>
          <a:xfrm>
            <a:off x="3163824" y="2295144"/>
            <a:ext cx="2926080" cy="301752"/>
          </a:xfrm>
          <a:prstGeom prst="rect">
            <a:avLst/>
          </a:prstGeom>
          <a:solidFill>
            <a:srgbClr val="6C7A89"/>
          </a:solidFill>
          <a:ln w="9525">
            <a:solidFill>
              <a:srgbClr val="6C7A89"/>
            </a:solidFill>
          </a:ln>
        </p:spPr>
        <p:txBody>
          <a:bodyPr wrap="square" lIns="508" tIns="508" rIns="508" bIns="508"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BM25</a:t>
            </a:r>
            <a:endParaRPr lang="en-US" sz="1400" dirty="0"/>
          </a:p>
        </p:txBody>
      </p:sp>
      <p:sp>
        <p:nvSpPr>
          <p:cNvPr id="10" name="Text 7"/>
          <p:cNvSpPr txBox="1"/>
          <p:nvPr/>
        </p:nvSpPr>
        <p:spPr>
          <a:xfrm>
            <a:off x="3163824" y="2642616"/>
            <a:ext cx="2926080" cy="301752"/>
          </a:xfrm>
          <a:prstGeom prst="rect">
            <a:avLst/>
          </a:prstGeom>
          <a:solidFill>
            <a:srgbClr val="1F3A5F"/>
          </a:solidFill>
          <a:ln w="9525">
            <a:solidFill>
              <a:srgbClr val="1F3A5F"/>
            </a:solidFill>
          </a:ln>
        </p:spPr>
        <p:txBody>
          <a:bodyPr wrap="square" lIns="508" tIns="508" rIns="508" bIns="508"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MiniLM · pre-trained</a:t>
            </a:r>
            <a:endParaRPr lang="en-US" sz="1400" dirty="0"/>
          </a:p>
        </p:txBody>
      </p:sp>
      <p:sp>
        <p:nvSpPr>
          <p:cNvPr id="11" name="Text 8"/>
          <p:cNvSpPr txBox="1"/>
          <p:nvPr/>
        </p:nvSpPr>
        <p:spPr>
          <a:xfrm>
            <a:off x="3163824" y="2990088"/>
            <a:ext cx="2926080" cy="301752"/>
          </a:xfrm>
          <a:prstGeom prst="rect">
            <a:avLst/>
          </a:prstGeom>
          <a:solidFill>
            <a:srgbClr val="1F3A5F"/>
          </a:solidFill>
          <a:ln w="9525">
            <a:solidFill>
              <a:srgbClr val="1F3A5F"/>
            </a:solidFill>
          </a:ln>
        </p:spPr>
        <p:txBody>
          <a:bodyPr wrap="square" lIns="508" tIns="508" rIns="508" bIns="508"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Multilingual E5-base · pre-trained</a:t>
            </a:r>
            <a:endParaRPr lang="en-US" sz="1400" dirty="0"/>
          </a:p>
        </p:txBody>
      </p:sp>
      <p:sp>
        <p:nvSpPr>
          <p:cNvPr id="12" name="Text 9"/>
          <p:cNvSpPr txBox="1"/>
          <p:nvPr/>
        </p:nvSpPr>
        <p:spPr>
          <a:xfrm>
            <a:off x="3163824" y="3337560"/>
            <a:ext cx="2926080" cy="301752"/>
          </a:xfrm>
          <a:prstGeom prst="rect">
            <a:avLst/>
          </a:prstGeom>
          <a:solidFill>
            <a:srgbClr val="8E3B2F"/>
          </a:solidFill>
          <a:ln w="9525">
            <a:solidFill>
              <a:srgbClr val="8E3B2F"/>
            </a:solidFill>
          </a:ln>
        </p:spPr>
        <p:txBody>
          <a:bodyPr wrap="square" lIns="508" tIns="508" rIns="508" bIns="508"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Hybrid: RRF of BM25 and E5</a:t>
            </a:r>
            <a:endParaRPr lang="en-US" sz="1400" dirty="0"/>
          </a:p>
        </p:txBody>
      </p:sp>
      <p:sp>
        <p:nvSpPr>
          <p:cNvPr id="13" name="Text 10"/>
          <p:cNvSpPr txBox="1"/>
          <p:nvPr/>
        </p:nvSpPr>
        <p:spPr>
          <a:xfrm>
            <a:off x="6345936" y="2162556"/>
            <a:ext cx="1371600" cy="914400"/>
          </a:xfrm>
          <a:prstGeom prst="rect">
            <a:avLst/>
          </a:prstGeom>
          <a:noFill/>
          <a:ln w="9525">
            <a:solidFill>
              <a:srgbClr val="1A1A1A"/>
            </a:solidFill>
          </a:ln>
        </p:spPr>
        <p:txBody>
          <a:bodyPr wrap="square" lIns="508" tIns="508" rIns="508" bIns="508"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Rank all documents, keep top 100</a:t>
            </a:r>
            <a:endParaRPr lang="en-US" sz="1400" dirty="0"/>
          </a:p>
        </p:txBody>
      </p:sp>
      <p:sp>
        <p:nvSpPr>
          <p:cNvPr id="14" name="Shape 11"/>
          <p:cNvSpPr/>
          <p:nvPr/>
        </p:nvSpPr>
        <p:spPr>
          <a:xfrm>
            <a:off x="1737360" y="2619756"/>
            <a:ext cx="256032" cy="0"/>
          </a:xfrm>
          <a:prstGeom prst="line">
            <a:avLst/>
          </a:prstGeom>
          <a:noFill/>
          <a:ln w="12700">
            <a:solidFill>
              <a:srgbClr val="1A1A1A"/>
            </a:solidFill>
            <a:prstDash val="solid"/>
            <a:tailEnd type="triangle"/>
          </a:ln>
        </p:spPr>
        <p:txBody>
          <a:bodyPr/>
          <a:lstStyle/>
          <a:p>
            <a:endParaRPr lang="en-US"/>
          </a:p>
        </p:txBody>
      </p:sp>
      <p:sp>
        <p:nvSpPr>
          <p:cNvPr id="15" name="Shape 12"/>
          <p:cNvSpPr/>
          <p:nvPr/>
        </p:nvSpPr>
        <p:spPr>
          <a:xfrm>
            <a:off x="2907792" y="2619756"/>
            <a:ext cx="256032" cy="0"/>
          </a:xfrm>
          <a:prstGeom prst="line">
            <a:avLst/>
          </a:prstGeom>
          <a:noFill/>
          <a:ln w="12700">
            <a:solidFill>
              <a:srgbClr val="1A1A1A"/>
            </a:solidFill>
            <a:prstDash val="solid"/>
            <a:tailEnd type="triangle"/>
          </a:ln>
        </p:spPr>
        <p:txBody>
          <a:bodyPr/>
          <a:lstStyle/>
          <a:p>
            <a:endParaRPr lang="en-US"/>
          </a:p>
        </p:txBody>
      </p:sp>
      <p:sp>
        <p:nvSpPr>
          <p:cNvPr id="16" name="Shape 13"/>
          <p:cNvSpPr/>
          <p:nvPr/>
        </p:nvSpPr>
        <p:spPr>
          <a:xfrm>
            <a:off x="6089904" y="2619756"/>
            <a:ext cx="256032" cy="0"/>
          </a:xfrm>
          <a:prstGeom prst="line">
            <a:avLst/>
          </a:prstGeom>
          <a:noFill/>
          <a:ln w="12700">
            <a:solidFill>
              <a:srgbClr val="1A1A1A"/>
            </a:solidFill>
            <a:prstDash val="solid"/>
            <a:tailEnd type="triangle"/>
          </a:ln>
        </p:spPr>
        <p:txBody>
          <a:bodyPr/>
          <a:lstStyle/>
          <a:p>
            <a:endParaRPr lang="en-US"/>
          </a:p>
        </p:txBody>
      </p:sp>
      <p:sp>
        <p:nvSpPr>
          <p:cNvPr id="17" name="Text 14"/>
          <p:cNvSpPr txBox="1"/>
          <p:nvPr/>
        </p:nvSpPr>
        <p:spPr>
          <a:xfrm>
            <a:off x="548640" y="4023360"/>
            <a:ext cx="2011680" cy="502920"/>
          </a:xfrm>
          <a:prstGeom prst="rect">
            <a:avLst/>
          </a:prstGeom>
          <a:noFill/>
          <a:ln w="9525">
            <a:solidFill>
              <a:srgbClr val="1A1A1A"/>
            </a:solidFill>
          </a:ln>
        </p:spPr>
        <p:txBody>
          <a:bodyPr wrap="square" lIns="508" tIns="508" rIns="508" bIns="508"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Metrics</a:t>
            </a:r>
            <a:endParaRPr lang="en-US" sz="1400" dirty="0"/>
          </a:p>
        </p:txBody>
      </p:sp>
      <p:sp>
        <p:nvSpPr>
          <p:cNvPr id="18" name="Text 15"/>
          <p:cNvSpPr txBox="1"/>
          <p:nvPr/>
        </p:nvSpPr>
        <p:spPr>
          <a:xfrm>
            <a:off x="3017520" y="4023360"/>
            <a:ext cx="3108960" cy="502920"/>
          </a:xfrm>
          <a:prstGeom prst="rect">
            <a:avLst/>
          </a:prstGeom>
          <a:noFill/>
          <a:ln w="9525">
            <a:solidFill>
              <a:srgbClr val="1A1A1A"/>
            </a:solidFill>
          </a:ln>
        </p:spPr>
        <p:txBody>
          <a:bodyPr wrap="square" lIns="508" tIns="508" rIns="508" bIns="508"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Confidence intervals and paired tests</a:t>
            </a:r>
            <a:endParaRPr lang="en-US" sz="1400" dirty="0"/>
          </a:p>
        </p:txBody>
      </p:sp>
      <p:sp>
        <p:nvSpPr>
          <p:cNvPr id="19" name="Text 16"/>
          <p:cNvSpPr txBox="1"/>
          <p:nvPr/>
        </p:nvSpPr>
        <p:spPr>
          <a:xfrm>
            <a:off x="6583680" y="4023360"/>
            <a:ext cx="2011680" cy="502920"/>
          </a:xfrm>
          <a:prstGeom prst="rect">
            <a:avLst/>
          </a:prstGeom>
          <a:noFill/>
          <a:ln w="9525">
            <a:solidFill>
              <a:srgbClr val="1A1A1A"/>
            </a:solidFill>
          </a:ln>
        </p:spPr>
        <p:txBody>
          <a:bodyPr wrap="square" lIns="508" tIns="508" rIns="508" bIns="508" rtlCol="0" anchor="ctr"/>
          <a:lstStyle/>
          <a:p>
            <a:pPr marL="0" indent="0" algn="ctr">
              <a:buNone/>
            </a:pPr>
            <a:r>
              <a:rPr lang="en-US" sz="1400" dirty="0">
                <a:solidFill>
                  <a:srgbClr val="1A1A1A"/>
                </a:solidFill>
                <a:latin typeface="Calibri" pitchFamily="34" charset="0"/>
                <a:ea typeface="Calibri" pitchFamily="34" charset="-122"/>
                <a:cs typeface="Calibri" pitchFamily="34" charset="-120"/>
              </a:rPr>
              <a:t>Error analysis</a:t>
            </a:r>
            <a:endParaRPr lang="en-US" sz="1400" dirty="0"/>
          </a:p>
        </p:txBody>
      </p:sp>
      <p:sp>
        <p:nvSpPr>
          <p:cNvPr id="20" name="Shape 17"/>
          <p:cNvSpPr/>
          <p:nvPr/>
        </p:nvSpPr>
        <p:spPr>
          <a:xfrm>
            <a:off x="2560320" y="4274820"/>
            <a:ext cx="457200" cy="0"/>
          </a:xfrm>
          <a:prstGeom prst="line">
            <a:avLst/>
          </a:prstGeom>
          <a:noFill/>
          <a:ln w="12700">
            <a:solidFill>
              <a:srgbClr val="1A1A1A"/>
            </a:solidFill>
            <a:prstDash val="solid"/>
            <a:tailEnd type="triangle"/>
          </a:ln>
        </p:spPr>
        <p:txBody>
          <a:bodyPr/>
          <a:lstStyle/>
          <a:p>
            <a:endParaRPr lang="en-US"/>
          </a:p>
        </p:txBody>
      </p:sp>
      <p:sp>
        <p:nvSpPr>
          <p:cNvPr id="21" name="Shape 18"/>
          <p:cNvSpPr/>
          <p:nvPr/>
        </p:nvSpPr>
        <p:spPr>
          <a:xfrm>
            <a:off x="6126480" y="4274820"/>
            <a:ext cx="457200" cy="0"/>
          </a:xfrm>
          <a:prstGeom prst="line">
            <a:avLst/>
          </a:prstGeom>
          <a:noFill/>
          <a:ln w="12700">
            <a:solidFill>
              <a:srgbClr val="1A1A1A"/>
            </a:solidFill>
            <a:prstDash val="solid"/>
            <a:tailEnd type="triangle"/>
          </a:ln>
        </p:spPr>
        <p:txBody>
          <a:bodyPr/>
          <a:lstStyle/>
          <a:p>
            <a:endParaRPr lang="en-US"/>
          </a:p>
        </p:txBody>
      </p:sp>
      <p:sp>
        <p:nvSpPr>
          <p:cNvPr id="22" name="Shape 19"/>
          <p:cNvSpPr/>
          <p:nvPr/>
        </p:nvSpPr>
        <p:spPr>
          <a:xfrm>
            <a:off x="7031736" y="3076956"/>
            <a:ext cx="0" cy="763524"/>
          </a:xfrm>
          <a:prstGeom prst="line">
            <a:avLst/>
          </a:prstGeom>
          <a:noFill/>
          <a:ln w="12700">
            <a:solidFill>
              <a:srgbClr val="1A1A1A"/>
            </a:solidFill>
            <a:prstDash val="solid"/>
          </a:ln>
        </p:spPr>
        <p:txBody>
          <a:bodyPr/>
          <a:lstStyle/>
          <a:p>
            <a:endParaRPr lang="en-US"/>
          </a:p>
        </p:txBody>
      </p:sp>
      <p:sp>
        <p:nvSpPr>
          <p:cNvPr id="23" name="Shape 20"/>
          <p:cNvSpPr/>
          <p:nvPr/>
        </p:nvSpPr>
        <p:spPr>
          <a:xfrm>
            <a:off x="1554480" y="3840480"/>
            <a:ext cx="5477256" cy="0"/>
          </a:xfrm>
          <a:prstGeom prst="line">
            <a:avLst/>
          </a:prstGeom>
          <a:noFill/>
          <a:ln w="12700">
            <a:solidFill>
              <a:srgbClr val="1A1A1A"/>
            </a:solidFill>
            <a:prstDash val="solid"/>
          </a:ln>
        </p:spPr>
        <p:txBody>
          <a:bodyPr/>
          <a:lstStyle/>
          <a:p>
            <a:endParaRPr lang="en-US"/>
          </a:p>
        </p:txBody>
      </p:sp>
      <p:sp>
        <p:nvSpPr>
          <p:cNvPr id="24" name="Shape 21"/>
          <p:cNvSpPr/>
          <p:nvPr/>
        </p:nvSpPr>
        <p:spPr>
          <a:xfrm>
            <a:off x="1554480" y="3840480"/>
            <a:ext cx="0" cy="182880"/>
          </a:xfrm>
          <a:prstGeom prst="line">
            <a:avLst/>
          </a:prstGeom>
          <a:noFill/>
          <a:ln w="12700">
            <a:solidFill>
              <a:srgbClr val="1A1A1A"/>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Auditing the baseline tokenizer</a:t>
            </a:r>
            <a:endParaRPr lang="en-US" sz="2800" dirty="0"/>
          </a:p>
        </p:txBody>
      </p:sp>
      <p:sp>
        <p:nvSpPr>
          <p:cNvPr id="4" name="Text 1"/>
          <p:cNvSpPr txBox="1"/>
          <p:nvPr/>
        </p:nvSpPr>
        <p:spPr>
          <a:xfrm>
            <a:off x="548640" y="1234440"/>
            <a:ext cx="2743200" cy="256032"/>
          </a:xfrm>
          <a:prstGeom prst="rect">
            <a:avLst/>
          </a:prstGeom>
          <a:noFill/>
          <a:ln/>
        </p:spPr>
        <p:txBody>
          <a:bodyPr wrap="square" lIns="0" tIns="0" rIns="0" bIns="0" rtlCol="0" anchor="t"/>
          <a:lstStyle/>
          <a:p>
            <a:pPr marL="0" indent="0" algn="l">
              <a:buNone/>
            </a:pPr>
            <a:r>
              <a:rPr lang="en-US" sz="1400" dirty="0">
                <a:solidFill>
                  <a:srgbClr val="6C7A89"/>
                </a:solidFill>
                <a:latin typeface="Calibri" pitchFamily="34" charset="0"/>
                <a:ea typeface="Calibri" pitchFamily="34" charset="-122"/>
                <a:cs typeface="Calibri" pitchFamily="34" charset="-120"/>
              </a:rPr>
              <a:t>Word in the query</a:t>
            </a:r>
            <a:endParaRPr lang="en-US" sz="1400" dirty="0"/>
          </a:p>
        </p:txBody>
      </p:sp>
      <p:sp>
        <p:nvSpPr>
          <p:cNvPr id="5" name="Text 2"/>
          <p:cNvSpPr txBox="1"/>
          <p:nvPr/>
        </p:nvSpPr>
        <p:spPr>
          <a:xfrm>
            <a:off x="548640" y="1481328"/>
            <a:ext cx="2286000" cy="502920"/>
          </a:xfrm>
          <a:prstGeom prst="rect">
            <a:avLst/>
          </a:prstGeom>
          <a:noFill/>
          <a:ln/>
        </p:spPr>
        <p:txBody>
          <a:bodyPr wrap="square" lIns="0" tIns="0" rIns="0" bIns="0" rtlCol="0" anchor="t"/>
          <a:lstStyle/>
          <a:p>
            <a:pPr marL="0" indent="0" algn="l">
              <a:buNone/>
            </a:pPr>
            <a:r>
              <a:rPr lang="en-US" sz="3000" b="1" dirty="0">
                <a:solidFill>
                  <a:srgbClr val="1A1A1A"/>
                </a:solidFill>
                <a:latin typeface="Nirmala UI" pitchFamily="34" charset="0"/>
                <a:ea typeface="Nirmala UI" pitchFamily="34" charset="-122"/>
                <a:cs typeface="Nirmala UI" pitchFamily="34" charset="-120"/>
              </a:rPr>
              <a:t>मास्टर</a:t>
            </a:r>
            <a:endParaRPr lang="en-US" sz="3000" dirty="0"/>
          </a:p>
        </p:txBody>
      </p:sp>
      <p:sp>
        <p:nvSpPr>
          <p:cNvPr id="6" name="Text 3"/>
          <p:cNvSpPr txBox="1"/>
          <p:nvPr/>
        </p:nvSpPr>
        <p:spPr>
          <a:xfrm>
            <a:off x="548640" y="2194560"/>
            <a:ext cx="4206240" cy="256032"/>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Default tokenizer cuts the word</a:t>
            </a:r>
            <a:endParaRPr lang="en-US" sz="1400" dirty="0"/>
          </a:p>
        </p:txBody>
      </p:sp>
      <p:sp>
        <p:nvSpPr>
          <p:cNvPr id="7" name="Text 4"/>
          <p:cNvSpPr txBox="1"/>
          <p:nvPr/>
        </p:nvSpPr>
        <p:spPr>
          <a:xfrm>
            <a:off x="548640" y="2514600"/>
            <a:ext cx="640080" cy="548640"/>
          </a:xfrm>
          <a:prstGeom prst="rect">
            <a:avLst/>
          </a:prstGeom>
          <a:noFill/>
          <a:ln w="9525">
            <a:solidFill>
              <a:srgbClr val="C3C9D0"/>
            </a:solidFill>
          </a:ln>
        </p:spPr>
        <p:txBody>
          <a:bodyPr wrap="square" lIns="508" tIns="508" rIns="508" bIns="508" rtlCol="0" anchor="ctr"/>
          <a:lstStyle/>
          <a:p>
            <a:pPr marL="0" indent="0" algn="ctr">
              <a:buNone/>
            </a:pPr>
            <a:r>
              <a:rPr lang="en-US" sz="2400" dirty="0">
                <a:solidFill>
                  <a:srgbClr val="6C7A89"/>
                </a:solidFill>
                <a:latin typeface="Nirmala UI" pitchFamily="34" charset="0"/>
                <a:ea typeface="Nirmala UI" pitchFamily="34" charset="-122"/>
                <a:cs typeface="Nirmala UI" pitchFamily="34" charset="-120"/>
              </a:rPr>
              <a:t>म</a:t>
            </a:r>
            <a:endParaRPr lang="en-US" sz="2400" dirty="0"/>
          </a:p>
        </p:txBody>
      </p:sp>
      <p:sp>
        <p:nvSpPr>
          <p:cNvPr id="8" name="Text 5"/>
          <p:cNvSpPr txBox="1"/>
          <p:nvPr/>
        </p:nvSpPr>
        <p:spPr>
          <a:xfrm>
            <a:off x="548640" y="3108960"/>
            <a:ext cx="822960" cy="228600"/>
          </a:xfrm>
          <a:prstGeom prst="rect">
            <a:avLst/>
          </a:prstGeom>
          <a:noFill/>
          <a:ln/>
        </p:spPr>
        <p:txBody>
          <a:bodyPr wrap="square" lIns="0" tIns="0" rIns="0" bIns="0" rtlCol="0" anchor="t"/>
          <a:lstStyle/>
          <a:p>
            <a:pPr marL="0" indent="0" algn="l">
              <a:buNone/>
            </a:pPr>
            <a:r>
              <a:rPr lang="en-US" sz="1400" dirty="0">
                <a:solidFill>
                  <a:srgbClr val="6C7A89"/>
                </a:solidFill>
                <a:latin typeface="Calibri" pitchFamily="34" charset="0"/>
                <a:ea typeface="Calibri" pitchFamily="34" charset="-122"/>
                <a:cs typeface="Calibri" pitchFamily="34" charset="-120"/>
              </a:rPr>
              <a:t>dropped</a:t>
            </a:r>
            <a:endParaRPr lang="en-US" sz="1400" dirty="0"/>
          </a:p>
        </p:txBody>
      </p:sp>
      <p:sp>
        <p:nvSpPr>
          <p:cNvPr id="9" name="Text 6"/>
          <p:cNvSpPr txBox="1"/>
          <p:nvPr/>
        </p:nvSpPr>
        <p:spPr>
          <a:xfrm>
            <a:off x="1371600" y="2514600"/>
            <a:ext cx="640080" cy="548640"/>
          </a:xfrm>
          <a:prstGeom prst="rect">
            <a:avLst/>
          </a:prstGeom>
          <a:noFill/>
          <a:ln w="9525">
            <a:solidFill>
              <a:srgbClr val="C3C9D0"/>
            </a:solidFill>
          </a:ln>
        </p:spPr>
        <p:txBody>
          <a:bodyPr wrap="square" lIns="508" tIns="508" rIns="508" bIns="508" rtlCol="0" anchor="ctr"/>
          <a:lstStyle/>
          <a:p>
            <a:pPr marL="0" indent="0" algn="ctr">
              <a:buNone/>
            </a:pPr>
            <a:r>
              <a:rPr lang="en-US" sz="2400" dirty="0">
                <a:solidFill>
                  <a:srgbClr val="6C7A89"/>
                </a:solidFill>
                <a:latin typeface="Nirmala UI" pitchFamily="34" charset="0"/>
                <a:ea typeface="Nirmala UI" pitchFamily="34" charset="-122"/>
                <a:cs typeface="Nirmala UI" pitchFamily="34" charset="-120"/>
              </a:rPr>
              <a:t>स</a:t>
            </a:r>
            <a:endParaRPr lang="en-US" sz="2400" dirty="0"/>
          </a:p>
        </p:txBody>
      </p:sp>
      <p:sp>
        <p:nvSpPr>
          <p:cNvPr id="10" name="Text 7"/>
          <p:cNvSpPr txBox="1"/>
          <p:nvPr/>
        </p:nvSpPr>
        <p:spPr>
          <a:xfrm>
            <a:off x="1371600" y="3108960"/>
            <a:ext cx="822960" cy="228600"/>
          </a:xfrm>
          <a:prstGeom prst="rect">
            <a:avLst/>
          </a:prstGeom>
          <a:noFill/>
          <a:ln/>
        </p:spPr>
        <p:txBody>
          <a:bodyPr wrap="square" lIns="0" tIns="0" rIns="0" bIns="0" rtlCol="0" anchor="t"/>
          <a:lstStyle/>
          <a:p>
            <a:pPr marL="0" indent="0" algn="l">
              <a:buNone/>
            </a:pPr>
            <a:r>
              <a:rPr lang="en-US" sz="1400" dirty="0">
                <a:solidFill>
                  <a:srgbClr val="6C7A89"/>
                </a:solidFill>
                <a:latin typeface="Calibri" pitchFamily="34" charset="0"/>
                <a:ea typeface="Calibri" pitchFamily="34" charset="-122"/>
                <a:cs typeface="Calibri" pitchFamily="34" charset="-120"/>
              </a:rPr>
              <a:t>dropped</a:t>
            </a:r>
            <a:endParaRPr lang="en-US" sz="1400" dirty="0"/>
          </a:p>
        </p:txBody>
      </p:sp>
      <p:sp>
        <p:nvSpPr>
          <p:cNvPr id="11" name="Text 8"/>
          <p:cNvSpPr txBox="1"/>
          <p:nvPr/>
        </p:nvSpPr>
        <p:spPr>
          <a:xfrm>
            <a:off x="2194560" y="2514600"/>
            <a:ext cx="822960" cy="548640"/>
          </a:xfrm>
          <a:prstGeom prst="rect">
            <a:avLst/>
          </a:prstGeom>
          <a:noFill/>
          <a:ln w="19050">
            <a:solidFill>
              <a:srgbClr val="1F3A5F"/>
            </a:solidFill>
          </a:ln>
        </p:spPr>
        <p:txBody>
          <a:bodyPr wrap="square" lIns="508" tIns="508" rIns="508" bIns="508" rtlCol="0" anchor="ctr"/>
          <a:lstStyle/>
          <a:p>
            <a:pPr marL="0" indent="0" algn="ctr">
              <a:buNone/>
            </a:pPr>
            <a:r>
              <a:rPr lang="en-US" sz="2400" dirty="0">
                <a:solidFill>
                  <a:srgbClr val="1A1A1A"/>
                </a:solidFill>
                <a:latin typeface="Nirmala UI" pitchFamily="34" charset="0"/>
                <a:ea typeface="Nirmala UI" pitchFamily="34" charset="-122"/>
                <a:cs typeface="Nirmala UI" pitchFamily="34" charset="-120"/>
              </a:rPr>
              <a:t>टर</a:t>
            </a:r>
            <a:endParaRPr lang="en-US" sz="2400" dirty="0"/>
          </a:p>
        </p:txBody>
      </p:sp>
      <p:sp>
        <p:nvSpPr>
          <p:cNvPr id="12" name="Text 9"/>
          <p:cNvSpPr txBox="1"/>
          <p:nvPr/>
        </p:nvSpPr>
        <p:spPr>
          <a:xfrm>
            <a:off x="2194560" y="3108960"/>
            <a:ext cx="1005840" cy="228600"/>
          </a:xfrm>
          <a:prstGeom prst="rect">
            <a:avLst/>
          </a:prstGeom>
          <a:noFill/>
          <a:ln/>
        </p:spPr>
        <p:txBody>
          <a:bodyPr wrap="square" lIns="0" tIns="0" rIns="0" bIns="0" rtlCol="0" anchor="t"/>
          <a:lstStyle/>
          <a:p>
            <a:pPr marL="0" indent="0" algn="l">
              <a:buNone/>
            </a:pPr>
            <a:r>
              <a:rPr lang="en-US" sz="1400" dirty="0">
                <a:solidFill>
                  <a:srgbClr val="1F3A5F"/>
                </a:solidFill>
                <a:latin typeface="Calibri" pitchFamily="34" charset="0"/>
                <a:ea typeface="Calibri" pitchFamily="34" charset="-122"/>
                <a:cs typeface="Calibri" pitchFamily="34" charset="-120"/>
              </a:rPr>
              <a:t>kept</a:t>
            </a:r>
            <a:endParaRPr lang="en-US" sz="1400" dirty="0"/>
          </a:p>
        </p:txBody>
      </p:sp>
      <p:sp>
        <p:nvSpPr>
          <p:cNvPr id="13" name="Text 10"/>
          <p:cNvSpPr txBox="1"/>
          <p:nvPr/>
        </p:nvSpPr>
        <p:spPr>
          <a:xfrm>
            <a:off x="3200400" y="2651760"/>
            <a:ext cx="1737360" cy="457200"/>
          </a:xfrm>
          <a:prstGeom prst="rect">
            <a:avLst/>
          </a:prstGeom>
          <a:noFill/>
          <a:ln/>
        </p:spPr>
        <p:txBody>
          <a:bodyPr wrap="square" lIns="0" tIns="0" rIns="0" bIns="0" rtlCol="0" anchor="t"/>
          <a:lstStyle/>
          <a:p>
            <a:pPr marL="0" indent="0" algn="l">
              <a:buNone/>
            </a:pPr>
            <a:r>
              <a:rPr lang="en-US" sz="1200" dirty="0">
                <a:solidFill>
                  <a:srgbClr val="6C7A89"/>
                </a:solidFill>
                <a:latin typeface="Calibri" pitchFamily="34" charset="0"/>
                <a:ea typeface="Calibri" pitchFamily="34" charset="-122"/>
                <a:cs typeface="Calibri" pitchFamily="34" charset="-120"/>
              </a:rPr>
              <a:t>cut at the vowel sign and at the virama</a:t>
            </a:r>
            <a:endParaRPr lang="en-US" sz="1200" dirty="0"/>
          </a:p>
        </p:txBody>
      </p:sp>
      <p:sp>
        <p:nvSpPr>
          <p:cNvPr id="14" name="Text 11"/>
          <p:cNvSpPr txBox="1"/>
          <p:nvPr/>
        </p:nvSpPr>
        <p:spPr>
          <a:xfrm>
            <a:off x="548640" y="3520440"/>
            <a:ext cx="4206240" cy="256032"/>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Fixed tokenizer</a:t>
            </a:r>
            <a:endParaRPr lang="en-US" sz="1400" dirty="0"/>
          </a:p>
        </p:txBody>
      </p:sp>
      <p:sp>
        <p:nvSpPr>
          <p:cNvPr id="15" name="Text 12"/>
          <p:cNvSpPr txBox="1"/>
          <p:nvPr/>
        </p:nvSpPr>
        <p:spPr>
          <a:xfrm>
            <a:off x="548640" y="3840480"/>
            <a:ext cx="1463040" cy="548640"/>
          </a:xfrm>
          <a:prstGeom prst="rect">
            <a:avLst/>
          </a:prstGeom>
          <a:noFill/>
          <a:ln w="19050">
            <a:solidFill>
              <a:srgbClr val="1F3A5F"/>
            </a:solidFill>
          </a:ln>
        </p:spPr>
        <p:txBody>
          <a:bodyPr wrap="square" lIns="508" tIns="508" rIns="508" bIns="508" rtlCol="0" anchor="ctr"/>
          <a:lstStyle/>
          <a:p>
            <a:pPr marL="0" indent="0" algn="ctr">
              <a:buNone/>
            </a:pPr>
            <a:r>
              <a:rPr lang="en-US" sz="2400" dirty="0">
                <a:solidFill>
                  <a:srgbClr val="1A1A1A"/>
                </a:solidFill>
                <a:latin typeface="Nirmala UI" pitchFamily="34" charset="0"/>
                <a:ea typeface="Nirmala UI" pitchFamily="34" charset="-122"/>
                <a:cs typeface="Nirmala UI" pitchFamily="34" charset="-120"/>
              </a:rPr>
              <a:t>मास्टर</a:t>
            </a:r>
            <a:endParaRPr lang="en-US" sz="2400" dirty="0"/>
          </a:p>
        </p:txBody>
      </p:sp>
      <p:sp>
        <p:nvSpPr>
          <p:cNvPr id="16" name="Text 13"/>
          <p:cNvSpPr txBox="1"/>
          <p:nvPr/>
        </p:nvSpPr>
        <p:spPr>
          <a:xfrm>
            <a:off x="2148840" y="4005072"/>
            <a:ext cx="1371600" cy="228600"/>
          </a:xfrm>
          <a:prstGeom prst="rect">
            <a:avLst/>
          </a:prstGeom>
          <a:noFill/>
          <a:ln/>
        </p:spPr>
        <p:txBody>
          <a:bodyPr wrap="square" lIns="0" tIns="0" rIns="0" bIns="0" rtlCol="0" anchor="t"/>
          <a:lstStyle/>
          <a:p>
            <a:pPr marL="0" indent="0" algn="l">
              <a:buNone/>
            </a:pPr>
            <a:r>
              <a:rPr lang="en-US" sz="1400" dirty="0">
                <a:solidFill>
                  <a:srgbClr val="1F3A5F"/>
                </a:solidFill>
                <a:latin typeface="Calibri" pitchFamily="34" charset="0"/>
                <a:ea typeface="Calibri" pitchFamily="34" charset="-122"/>
                <a:cs typeface="Calibri" pitchFamily="34" charset="-120"/>
              </a:rPr>
              <a:t>kept whole</a:t>
            </a:r>
            <a:endParaRPr lang="en-US" sz="1400" dirty="0"/>
          </a:p>
        </p:txBody>
      </p:sp>
      <p:sp>
        <p:nvSpPr>
          <p:cNvPr id="17" name="Shape 14"/>
          <p:cNvSpPr/>
          <p:nvPr/>
        </p:nvSpPr>
        <p:spPr>
          <a:xfrm>
            <a:off x="5029200" y="1280160"/>
            <a:ext cx="0" cy="3200400"/>
          </a:xfrm>
          <a:prstGeom prst="line">
            <a:avLst/>
          </a:prstGeom>
          <a:noFill/>
          <a:ln w="9525">
            <a:solidFill>
              <a:srgbClr val="C3C9D0"/>
            </a:solidFill>
            <a:prstDash val="solid"/>
          </a:ln>
        </p:spPr>
        <p:txBody>
          <a:bodyPr/>
          <a:lstStyle/>
          <a:p>
            <a:endParaRPr lang="en-US"/>
          </a:p>
        </p:txBody>
      </p:sp>
      <p:sp>
        <p:nvSpPr>
          <p:cNvPr id="18" name="Text 15"/>
          <p:cNvSpPr txBox="1"/>
          <p:nvPr/>
        </p:nvSpPr>
        <p:spPr>
          <a:xfrm>
            <a:off x="5303520" y="1234440"/>
            <a:ext cx="3291840" cy="457200"/>
          </a:xfrm>
          <a:prstGeom prst="rect">
            <a:avLst/>
          </a:prstGeom>
          <a:noFill/>
          <a:ln/>
        </p:spPr>
        <p:txBody>
          <a:bodyPr wrap="square" lIns="0" tIns="0" rIns="0" bIns="0" rtlCol="0" anchor="ctr"/>
          <a:lstStyle/>
          <a:p>
            <a:pPr marL="0" indent="0" algn="l">
              <a:buNone/>
            </a:pPr>
            <a:r>
              <a:rPr lang="en-US" sz="2600" b="1" dirty="0">
                <a:solidFill>
                  <a:srgbClr val="1F3A5F"/>
                </a:solidFill>
                <a:latin typeface="Georgia" pitchFamily="34" charset="0"/>
                <a:ea typeface="Georgia" pitchFamily="34" charset="-122"/>
                <a:cs typeface="Georgia" pitchFamily="34" charset="-120"/>
              </a:rPr>
              <a:t>1,556 → 6,172</a:t>
            </a:r>
            <a:endParaRPr lang="en-US" sz="2600" dirty="0"/>
          </a:p>
        </p:txBody>
      </p:sp>
      <p:sp>
        <p:nvSpPr>
          <p:cNvPr id="19" name="Text 16"/>
          <p:cNvSpPr txBox="1"/>
          <p:nvPr/>
        </p:nvSpPr>
        <p:spPr>
          <a:xfrm>
            <a:off x="5303520" y="1719072"/>
            <a:ext cx="3291840" cy="274320"/>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terms in the vocabulary after the fix</a:t>
            </a:r>
            <a:endParaRPr lang="en-US" sz="1400" dirty="0"/>
          </a:p>
        </p:txBody>
      </p:sp>
      <p:sp>
        <p:nvSpPr>
          <p:cNvPr id="20" name="Text 17"/>
          <p:cNvSpPr txBox="1"/>
          <p:nvPr/>
        </p:nvSpPr>
        <p:spPr>
          <a:xfrm>
            <a:off x="5303520" y="2194560"/>
            <a:ext cx="3291840" cy="457200"/>
          </a:xfrm>
          <a:prstGeom prst="rect">
            <a:avLst/>
          </a:prstGeom>
          <a:noFill/>
          <a:ln/>
        </p:spPr>
        <p:txBody>
          <a:bodyPr wrap="square" lIns="0" tIns="0" rIns="0" bIns="0" rtlCol="0" anchor="ctr"/>
          <a:lstStyle/>
          <a:p>
            <a:pPr marL="0" indent="0" algn="l">
              <a:buNone/>
            </a:pPr>
            <a:r>
              <a:rPr lang="en-US" sz="2600" b="1" dirty="0">
                <a:solidFill>
                  <a:srgbClr val="1F3A5F"/>
                </a:solidFill>
                <a:latin typeface="Georgia" pitchFamily="34" charset="0"/>
                <a:ea typeface="Georgia" pitchFamily="34" charset="-122"/>
                <a:cs typeface="Georgia" pitchFamily="34" charset="-120"/>
              </a:rPr>
              <a:t>0.0%</a:t>
            </a:r>
            <a:endParaRPr lang="en-US" sz="2600" dirty="0"/>
          </a:p>
        </p:txBody>
      </p:sp>
      <p:sp>
        <p:nvSpPr>
          <p:cNvPr id="21" name="Text 18"/>
          <p:cNvSpPr txBox="1"/>
          <p:nvPr/>
        </p:nvSpPr>
        <p:spPr>
          <a:xfrm>
            <a:off x="5303520" y="2679192"/>
            <a:ext cx="3291840" cy="868680"/>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of words with vowel signs or virama survive the default tokenizer. They are 90% of the corpus; 96.4% of other words survive.</a:t>
            </a:r>
            <a:endParaRPr lang="en-US" sz="1400" dirty="0"/>
          </a:p>
        </p:txBody>
      </p:sp>
      <p:sp>
        <p:nvSpPr>
          <p:cNvPr id="22" name="Text 19"/>
          <p:cNvSpPr txBox="1"/>
          <p:nvPr/>
        </p:nvSpPr>
        <p:spPr>
          <a:xfrm>
            <a:off x="5303520" y="3657600"/>
            <a:ext cx="3291840" cy="777240"/>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Effect on ranking: </a:t>
            </a:r>
            <a:r>
              <a:rPr lang="en-US" sz="1400" dirty="0">
                <a:solidFill>
                  <a:srgbClr val="1A1A1A"/>
                </a:solidFill>
                <a:latin typeface="Calibri" pitchFamily="34" charset="0"/>
                <a:ea typeface="Calibri" pitchFamily="34" charset="-122"/>
                <a:cs typeface="Calibri" pitchFamily="34" charset="-120"/>
              </a:rPr>
              <a:t>+0.043 nDCG@10, interval [−0.044, +0.136]. Not statistically clear.</a:t>
            </a:r>
            <a:endParaRPr lang="en-US" sz="14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How we evaluate</a:t>
            </a:r>
            <a:endParaRPr lang="en-US" sz="2800" dirty="0"/>
          </a:p>
        </p:txBody>
      </p:sp>
      <p:sp>
        <p:nvSpPr>
          <p:cNvPr id="4" name="Shape 1"/>
          <p:cNvSpPr/>
          <p:nvPr/>
        </p:nvSpPr>
        <p:spPr>
          <a:xfrm>
            <a:off x="3063240" y="1325880"/>
            <a:ext cx="0" cy="3108960"/>
          </a:xfrm>
          <a:prstGeom prst="line">
            <a:avLst/>
          </a:prstGeom>
          <a:noFill/>
          <a:ln w="9525">
            <a:solidFill>
              <a:srgbClr val="C3C9D0"/>
            </a:solidFill>
            <a:prstDash val="solid"/>
          </a:ln>
        </p:spPr>
        <p:txBody>
          <a:bodyPr/>
          <a:lstStyle/>
          <a:p>
            <a:endParaRPr lang="en-US"/>
          </a:p>
        </p:txBody>
      </p:sp>
      <p:sp>
        <p:nvSpPr>
          <p:cNvPr id="5" name="Shape 2"/>
          <p:cNvSpPr/>
          <p:nvPr/>
        </p:nvSpPr>
        <p:spPr>
          <a:xfrm>
            <a:off x="5806440" y="1325880"/>
            <a:ext cx="0" cy="3108960"/>
          </a:xfrm>
          <a:prstGeom prst="line">
            <a:avLst/>
          </a:prstGeom>
          <a:noFill/>
          <a:ln w="9525">
            <a:solidFill>
              <a:srgbClr val="C3C9D0"/>
            </a:solidFill>
            <a:prstDash val="solid"/>
          </a:ln>
        </p:spPr>
        <p:txBody>
          <a:bodyPr/>
          <a:lstStyle/>
          <a:p>
            <a:endParaRPr lang="en-US"/>
          </a:p>
        </p:txBody>
      </p:sp>
      <p:sp>
        <p:nvSpPr>
          <p:cNvPr id="6" name="Text 3"/>
          <p:cNvSpPr txBox="1"/>
          <p:nvPr/>
        </p:nvSpPr>
        <p:spPr>
          <a:xfrm>
            <a:off x="548640" y="1280160"/>
            <a:ext cx="2468880" cy="320040"/>
          </a:xfrm>
          <a:prstGeom prst="rect">
            <a:avLst/>
          </a:prstGeom>
          <a:noFill/>
          <a:ln/>
        </p:spPr>
        <p:txBody>
          <a:bodyPr wrap="square" lIns="0" tIns="0" rIns="0" bIns="0" rtlCol="0" anchor="t"/>
          <a:lstStyle/>
          <a:p>
            <a:pPr marL="0" indent="0" algn="l">
              <a:buNone/>
            </a:pPr>
            <a:r>
              <a:rPr lang="en-US" sz="2000" b="1" dirty="0">
                <a:solidFill>
                  <a:srgbClr val="1F3A5F"/>
                </a:solidFill>
                <a:latin typeface="Georgia" pitchFamily="34" charset="0"/>
                <a:ea typeface="Georgia" pitchFamily="34" charset="-122"/>
                <a:cs typeface="Georgia" pitchFamily="34" charset="-120"/>
              </a:rPr>
              <a:t>Metrics</a:t>
            </a:r>
            <a:endParaRPr lang="en-US" sz="2000" dirty="0"/>
          </a:p>
        </p:txBody>
      </p:sp>
      <p:sp>
        <p:nvSpPr>
          <p:cNvPr id="7" name="Text 4"/>
          <p:cNvSpPr txBox="1"/>
          <p:nvPr/>
        </p:nvSpPr>
        <p:spPr>
          <a:xfrm>
            <a:off x="3291840" y="1280160"/>
            <a:ext cx="2468880" cy="320040"/>
          </a:xfrm>
          <a:prstGeom prst="rect">
            <a:avLst/>
          </a:prstGeom>
          <a:noFill/>
          <a:ln/>
        </p:spPr>
        <p:txBody>
          <a:bodyPr wrap="square" lIns="0" tIns="0" rIns="0" bIns="0" rtlCol="0" anchor="t"/>
          <a:lstStyle/>
          <a:p>
            <a:pPr marL="0" indent="0" algn="l">
              <a:buNone/>
            </a:pPr>
            <a:r>
              <a:rPr lang="en-US" sz="2000" b="1" dirty="0">
                <a:solidFill>
                  <a:srgbClr val="1F3A5F"/>
                </a:solidFill>
                <a:latin typeface="Georgia" pitchFamily="34" charset="0"/>
                <a:ea typeface="Georgia" pitchFamily="34" charset="-122"/>
                <a:cs typeface="Georgia" pitchFamily="34" charset="-120"/>
              </a:rPr>
              <a:t>Uncertainty</a:t>
            </a:r>
            <a:endParaRPr lang="en-US" sz="2000" dirty="0"/>
          </a:p>
        </p:txBody>
      </p:sp>
      <p:sp>
        <p:nvSpPr>
          <p:cNvPr id="8" name="Text 5"/>
          <p:cNvSpPr txBox="1"/>
          <p:nvPr/>
        </p:nvSpPr>
        <p:spPr>
          <a:xfrm>
            <a:off x="6035040" y="1280160"/>
            <a:ext cx="2468880" cy="320040"/>
          </a:xfrm>
          <a:prstGeom prst="rect">
            <a:avLst/>
          </a:prstGeom>
          <a:noFill/>
          <a:ln/>
        </p:spPr>
        <p:txBody>
          <a:bodyPr wrap="square" lIns="0" tIns="0" rIns="0" bIns="0" rtlCol="0" anchor="t"/>
          <a:lstStyle/>
          <a:p>
            <a:pPr marL="0" indent="0" algn="l">
              <a:buNone/>
            </a:pPr>
            <a:r>
              <a:rPr lang="en-US" sz="2000" b="1" dirty="0">
                <a:solidFill>
                  <a:srgbClr val="1F3A5F"/>
                </a:solidFill>
                <a:latin typeface="Georgia" pitchFamily="34" charset="0"/>
                <a:ea typeface="Georgia" pitchFamily="34" charset="-122"/>
                <a:cs typeface="Georgia" pitchFamily="34" charset="-120"/>
              </a:rPr>
              <a:t>Validation</a:t>
            </a:r>
            <a:endParaRPr lang="en-US" sz="2000" dirty="0"/>
          </a:p>
        </p:txBody>
      </p:sp>
      <p:sp>
        <p:nvSpPr>
          <p:cNvPr id="9" name="Text 6"/>
          <p:cNvSpPr txBox="1"/>
          <p:nvPr/>
        </p:nvSpPr>
        <p:spPr>
          <a:xfrm>
            <a:off x="548640" y="1737360"/>
            <a:ext cx="2468880" cy="822960"/>
          </a:xfrm>
          <a:prstGeom prst="rect">
            <a:avLst/>
          </a:prstGeom>
          <a:noFill/>
          <a:ln/>
        </p:spPr>
        <p:txBody>
          <a:bodyPr wrap="square" lIns="0" tIns="0" rIns="0" bIns="0" rtlCol="0" anchor="t"/>
          <a:lstStyle/>
          <a:p>
            <a:pPr marL="0" indent="0" algn="l">
              <a:spcAft>
                <a:spcPts val="200"/>
              </a:spcAft>
              <a:buNone/>
            </a:pPr>
            <a:r>
              <a:rPr lang="en-US" sz="1600" b="1" dirty="0">
                <a:solidFill>
                  <a:srgbClr val="1A1A1A"/>
                </a:solidFill>
                <a:latin typeface="Calibri" pitchFamily="34" charset="0"/>
                <a:ea typeface="Calibri" pitchFamily="34" charset="-122"/>
                <a:cs typeface="Calibri" pitchFamily="34" charset="-120"/>
              </a:rPr>
              <a:t>nDCG@10 (main)</a:t>
            </a:r>
            <a:endParaRPr lang="en-US" sz="1600" dirty="0"/>
          </a:p>
          <a:p>
            <a:pPr marL="0" indent="0" algn="l">
              <a:spcAft>
                <a:spcPts val="200"/>
              </a:spcAft>
              <a:buNone/>
            </a:pPr>
            <a:r>
              <a:rPr lang="en-US" sz="1600" dirty="0">
                <a:solidFill>
                  <a:srgbClr val="1A1A1A"/>
                </a:solidFill>
                <a:latin typeface="Calibri" pitchFamily="34" charset="0"/>
                <a:ea typeface="Calibri" pitchFamily="34" charset="-122"/>
                <a:cs typeface="Calibri" pitchFamily="34" charset="-120"/>
              </a:rPr>
              <a:t>MRR@10</a:t>
            </a:r>
            <a:endParaRPr lang="en-US" sz="1600" dirty="0"/>
          </a:p>
          <a:p>
            <a:pPr marL="0" indent="0" algn="l">
              <a:spcAft>
                <a:spcPts val="200"/>
              </a:spcAft>
              <a:buNone/>
            </a:pPr>
            <a:r>
              <a:rPr lang="en-US" sz="1600" dirty="0">
                <a:solidFill>
                  <a:srgbClr val="1A1A1A"/>
                </a:solidFill>
                <a:latin typeface="Calibri" pitchFamily="34" charset="0"/>
                <a:ea typeface="Calibri" pitchFamily="34" charset="-122"/>
                <a:cs typeface="Calibri" pitchFamily="34" charset="-120"/>
              </a:rPr>
              <a:t>Recall@10</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2331720" cy="914400"/>
        </p:xfrm>
        <a:graphic>
          <a:graphicData uri="http://schemas.openxmlformats.org/drawingml/2006/table">
            <a:tbl>
              <a:tblPr/>
              <a:tblGrid>
                <a:gridCol w="16916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tblGrid>
              <a:tr h="329184">
                <a:tc>
                  <a:txBody>
                    <a:bodyPr/>
                    <a:lstStyle/>
                    <a:p>
                      <a:pPr marL="0" indent="0">
                        <a:buNone/>
                      </a:pPr>
                      <a:r>
                        <a:rPr lang="en-US" sz="1400" b="1" dirty="0">
                          <a:solidFill>
                            <a:srgbClr val="1A1A1A"/>
                          </a:solidFill>
                          <a:latin typeface="Calibri" pitchFamily="34" charset="0"/>
                          <a:ea typeface="Calibri" pitchFamily="34" charset="-122"/>
                          <a:cs typeface="Calibri" pitchFamily="34" charset="-120"/>
                        </a:rPr>
                        <a:t>Relevant document at rank</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lgn="r">
                        <a:buNone/>
                      </a:pPr>
                      <a:r>
                        <a:rPr lang="en-US" sz="1400" b="1" dirty="0">
                          <a:solidFill>
                            <a:srgbClr val="1A1A1A"/>
                          </a:solidFill>
                          <a:latin typeface="Calibri" pitchFamily="34" charset="0"/>
                          <a:ea typeface="Calibri" pitchFamily="34" charset="-122"/>
                          <a:cs typeface="Calibri" pitchFamily="34" charset="-120"/>
                        </a:rPr>
                        <a:t>nDCG</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r">
                        <a:buNone/>
                      </a:pPr>
                      <a:r>
                        <a:rPr lang="en-US" sz="1400" dirty="0">
                          <a:solidFill>
                            <a:srgbClr val="1A1A1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r">
                        <a:buNone/>
                      </a:pPr>
                      <a:r>
                        <a:rPr lang="en-US" sz="1400" dirty="0">
                          <a:solidFill>
                            <a:srgbClr val="1A1A1A"/>
                          </a:solidFill>
                          <a:latin typeface="Calibri" pitchFamily="34" charset="0"/>
                          <a:ea typeface="Calibri" pitchFamily="34" charset="-122"/>
                          <a:cs typeface="Calibri" pitchFamily="34" charset="-120"/>
                        </a:rPr>
                        <a:t>0.63</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r">
                        <a:buNone/>
                      </a:pPr>
                      <a:r>
                        <a:rPr lang="en-US" sz="1400" dirty="0">
                          <a:solidFill>
                            <a:srgbClr val="1A1A1A"/>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7"/>
          <p:cNvSpPr txBox="1"/>
          <p:nvPr/>
        </p:nvSpPr>
        <p:spPr>
          <a:xfrm>
            <a:off x="3291840" y="1737360"/>
            <a:ext cx="2468880" cy="2377440"/>
          </a:xfrm>
          <a:prstGeom prst="rect">
            <a:avLst/>
          </a:prstGeom>
          <a:noFill/>
          <a:ln/>
        </p:spPr>
        <p:txBody>
          <a:bodyPr wrap="square" lIns="0" tIns="0" rIns="0" bIns="0" rtlCol="0" anchor="t"/>
          <a:lstStyle/>
          <a:p>
            <a:pPr marL="0" indent="0" algn="l">
              <a:spcAft>
                <a:spcPts val="800"/>
              </a:spcAft>
              <a:buNone/>
            </a:pPr>
            <a:r>
              <a:rPr lang="en-US" sz="1600" dirty="0">
                <a:solidFill>
                  <a:srgbClr val="1A1A1A"/>
                </a:solidFill>
                <a:latin typeface="Calibri" pitchFamily="34" charset="0"/>
                <a:ea typeface="Calibri" pitchFamily="34" charset="-122"/>
                <a:cs typeface="Calibri" pitchFamily="34" charset="-120"/>
              </a:rPr>
              <a:t>95% bootstrap confidence intervals: 2,000 resamples of the 50 queries</a:t>
            </a:r>
            <a:endParaRPr lang="en-US" sz="1600" dirty="0"/>
          </a:p>
          <a:p>
            <a:pPr marL="0" indent="0" algn="l">
              <a:spcAft>
                <a:spcPts val="800"/>
              </a:spcAft>
              <a:buNone/>
            </a:pPr>
            <a:r>
              <a:rPr lang="en-US" sz="1600" dirty="0">
                <a:solidFill>
                  <a:srgbClr val="1A1A1A"/>
                </a:solidFill>
                <a:latin typeface="Calibri" pitchFamily="34" charset="0"/>
                <a:ea typeface="Calibri" pitchFamily="34" charset="-122"/>
                <a:cs typeface="Calibri" pitchFamily="34" charset="-120"/>
              </a:rPr>
              <a:t>Paired comparisons</a:t>
            </a:r>
            <a:endParaRPr lang="en-US" sz="1600" dirty="0"/>
          </a:p>
          <a:p>
            <a:pPr marL="0" indent="0" algn="l">
              <a:spcAft>
                <a:spcPts val="800"/>
              </a:spcAft>
              <a:buNone/>
            </a:pPr>
            <a:r>
              <a:rPr lang="en-US" sz="1600" dirty="0">
                <a:solidFill>
                  <a:srgbClr val="1A1A1A"/>
                </a:solidFill>
                <a:latin typeface="Calibri" pitchFamily="34" charset="0"/>
                <a:ea typeface="Calibri" pitchFamily="34" charset="-122"/>
                <a:cs typeface="Calibri" pitchFamily="34" charset="-120"/>
              </a:rPr>
              <a:t>Bonferroni correction for 8 comparisons</a:t>
            </a:r>
            <a:endParaRPr lang="en-US" sz="1600" dirty="0"/>
          </a:p>
        </p:txBody>
      </p:sp>
      <p:sp>
        <p:nvSpPr>
          <p:cNvPr id="12" name="Text 8"/>
          <p:cNvSpPr txBox="1"/>
          <p:nvPr/>
        </p:nvSpPr>
        <p:spPr>
          <a:xfrm>
            <a:off x="6035040" y="1737360"/>
            <a:ext cx="2468880" cy="137160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Our metric code matches the ranx library to 6 decimals.</a:t>
            </a:r>
            <a:endParaRPr lang="en-US" sz="16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Main result: embeddings lead</a:t>
            </a:r>
            <a:endParaRPr lang="en-US" sz="2800" dirty="0"/>
          </a:p>
        </p:txBody>
      </p:sp>
      <p:sp>
        <p:nvSpPr>
          <p:cNvPr id="4" name="Text 1"/>
          <p:cNvSpPr txBox="1"/>
          <p:nvPr/>
        </p:nvSpPr>
        <p:spPr>
          <a:xfrm>
            <a:off x="548640" y="1280160"/>
            <a:ext cx="2286000" cy="246888"/>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TF-IDF (default, midterm)</a:t>
            </a:r>
            <a:endParaRPr lang="en-US" sz="1400" dirty="0"/>
          </a:p>
        </p:txBody>
      </p:sp>
      <p:sp>
        <p:nvSpPr>
          <p:cNvPr id="5" name="Shape 2"/>
          <p:cNvSpPr/>
          <p:nvPr/>
        </p:nvSpPr>
        <p:spPr>
          <a:xfrm>
            <a:off x="2880360" y="1280160"/>
            <a:ext cx="2255093" cy="246888"/>
          </a:xfrm>
          <a:prstGeom prst="rect">
            <a:avLst/>
          </a:prstGeom>
          <a:solidFill>
            <a:srgbClr val="C3C9D0"/>
          </a:solidFill>
          <a:ln w="12700">
            <a:solidFill>
              <a:srgbClr val="C3C9D0"/>
            </a:solidFill>
            <a:prstDash val="solid"/>
          </a:ln>
        </p:spPr>
        <p:txBody>
          <a:bodyPr/>
          <a:lstStyle/>
          <a:p>
            <a:endParaRPr lang="en-US"/>
          </a:p>
        </p:txBody>
      </p:sp>
      <p:sp>
        <p:nvSpPr>
          <p:cNvPr id="6" name="Shape 3"/>
          <p:cNvSpPr/>
          <p:nvPr/>
        </p:nvSpPr>
        <p:spPr>
          <a:xfrm>
            <a:off x="4781032" y="1403604"/>
            <a:ext cx="708843" cy="0"/>
          </a:xfrm>
          <a:prstGeom prst="line">
            <a:avLst/>
          </a:prstGeom>
          <a:noFill/>
          <a:ln w="19050">
            <a:solidFill>
              <a:srgbClr val="1A1A1A"/>
            </a:solidFill>
            <a:prstDash val="solid"/>
          </a:ln>
        </p:spPr>
        <p:txBody>
          <a:bodyPr/>
          <a:lstStyle/>
          <a:p>
            <a:endParaRPr lang="en-US"/>
          </a:p>
        </p:txBody>
      </p:sp>
      <p:sp>
        <p:nvSpPr>
          <p:cNvPr id="7" name="Shape 4"/>
          <p:cNvSpPr/>
          <p:nvPr/>
        </p:nvSpPr>
        <p:spPr>
          <a:xfrm>
            <a:off x="4781032" y="1316736"/>
            <a:ext cx="0" cy="173736"/>
          </a:xfrm>
          <a:prstGeom prst="line">
            <a:avLst/>
          </a:prstGeom>
          <a:noFill/>
          <a:ln w="19050">
            <a:solidFill>
              <a:srgbClr val="1A1A1A"/>
            </a:solidFill>
            <a:prstDash val="solid"/>
          </a:ln>
        </p:spPr>
        <p:txBody>
          <a:bodyPr/>
          <a:lstStyle/>
          <a:p>
            <a:endParaRPr lang="en-US"/>
          </a:p>
        </p:txBody>
      </p:sp>
      <p:sp>
        <p:nvSpPr>
          <p:cNvPr id="8" name="Shape 5"/>
          <p:cNvSpPr/>
          <p:nvPr/>
        </p:nvSpPr>
        <p:spPr>
          <a:xfrm>
            <a:off x="5489875" y="1316736"/>
            <a:ext cx="0" cy="173736"/>
          </a:xfrm>
          <a:prstGeom prst="line">
            <a:avLst/>
          </a:prstGeom>
          <a:noFill/>
          <a:ln w="19050">
            <a:solidFill>
              <a:srgbClr val="1A1A1A"/>
            </a:solidFill>
            <a:prstDash val="solid"/>
          </a:ln>
        </p:spPr>
        <p:txBody>
          <a:bodyPr/>
          <a:lstStyle/>
          <a:p>
            <a:endParaRPr lang="en-US"/>
          </a:p>
        </p:txBody>
      </p:sp>
      <p:sp>
        <p:nvSpPr>
          <p:cNvPr id="9" name="Text 6"/>
          <p:cNvSpPr txBox="1"/>
          <p:nvPr/>
        </p:nvSpPr>
        <p:spPr>
          <a:xfrm>
            <a:off x="6492240" y="1280160"/>
            <a:ext cx="201168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0.649</a:t>
            </a:r>
            <a:r>
              <a:rPr lang="en-US" sz="1400" dirty="0">
                <a:solidFill>
                  <a:srgbClr val="6C7A89"/>
                </a:solidFill>
                <a:latin typeface="Calibri" pitchFamily="34" charset="0"/>
                <a:ea typeface="Calibri" pitchFamily="34" charset="-122"/>
                <a:cs typeface="Calibri" pitchFamily="34" charset="-120"/>
              </a:rPr>
              <a:t>  [0.547, 0.751]</a:t>
            </a:r>
            <a:endParaRPr lang="en-US" sz="1400" dirty="0"/>
          </a:p>
        </p:txBody>
      </p:sp>
      <p:sp>
        <p:nvSpPr>
          <p:cNvPr id="10" name="Text 7"/>
          <p:cNvSpPr txBox="1"/>
          <p:nvPr/>
        </p:nvSpPr>
        <p:spPr>
          <a:xfrm>
            <a:off x="548640" y="1645920"/>
            <a:ext cx="2286000" cy="246888"/>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TF-IDF (fixed tokenizer)</a:t>
            </a:r>
            <a:endParaRPr lang="en-US" sz="1400" dirty="0"/>
          </a:p>
        </p:txBody>
      </p:sp>
      <p:sp>
        <p:nvSpPr>
          <p:cNvPr id="11" name="Shape 8"/>
          <p:cNvSpPr/>
          <p:nvPr/>
        </p:nvSpPr>
        <p:spPr>
          <a:xfrm>
            <a:off x="2880360" y="1645920"/>
            <a:ext cx="2404506" cy="246888"/>
          </a:xfrm>
          <a:prstGeom prst="rect">
            <a:avLst/>
          </a:prstGeom>
          <a:solidFill>
            <a:srgbClr val="6C7A89"/>
          </a:solidFill>
          <a:ln w="12700">
            <a:solidFill>
              <a:srgbClr val="6C7A89"/>
            </a:solidFill>
            <a:prstDash val="solid"/>
          </a:ln>
        </p:spPr>
        <p:txBody>
          <a:bodyPr/>
          <a:lstStyle/>
          <a:p>
            <a:endParaRPr lang="en-US"/>
          </a:p>
        </p:txBody>
      </p:sp>
      <p:sp>
        <p:nvSpPr>
          <p:cNvPr id="12" name="Shape 9"/>
          <p:cNvSpPr/>
          <p:nvPr/>
        </p:nvSpPr>
        <p:spPr>
          <a:xfrm>
            <a:off x="4913071" y="1769364"/>
            <a:ext cx="371795" cy="0"/>
          </a:xfrm>
          <a:prstGeom prst="line">
            <a:avLst/>
          </a:prstGeom>
          <a:noFill/>
          <a:ln w="19050">
            <a:solidFill>
              <a:srgbClr val="FFFFFF"/>
            </a:solidFill>
            <a:prstDash val="solid"/>
          </a:ln>
        </p:spPr>
        <p:txBody>
          <a:bodyPr/>
          <a:lstStyle/>
          <a:p>
            <a:endParaRPr lang="en-US"/>
          </a:p>
        </p:txBody>
      </p:sp>
      <p:sp>
        <p:nvSpPr>
          <p:cNvPr id="13" name="Shape 10"/>
          <p:cNvSpPr/>
          <p:nvPr/>
        </p:nvSpPr>
        <p:spPr>
          <a:xfrm>
            <a:off x="5284866" y="1769364"/>
            <a:ext cx="340523" cy="0"/>
          </a:xfrm>
          <a:prstGeom prst="line">
            <a:avLst/>
          </a:prstGeom>
          <a:noFill/>
          <a:ln w="19050">
            <a:solidFill>
              <a:srgbClr val="1A1A1A"/>
            </a:solidFill>
            <a:prstDash val="solid"/>
          </a:ln>
        </p:spPr>
        <p:txBody>
          <a:bodyPr/>
          <a:lstStyle/>
          <a:p>
            <a:endParaRPr lang="en-US"/>
          </a:p>
        </p:txBody>
      </p:sp>
      <p:sp>
        <p:nvSpPr>
          <p:cNvPr id="14" name="Shape 11"/>
          <p:cNvSpPr/>
          <p:nvPr/>
        </p:nvSpPr>
        <p:spPr>
          <a:xfrm>
            <a:off x="4913071" y="1682496"/>
            <a:ext cx="0" cy="173736"/>
          </a:xfrm>
          <a:prstGeom prst="line">
            <a:avLst/>
          </a:prstGeom>
          <a:noFill/>
          <a:ln w="19050">
            <a:solidFill>
              <a:srgbClr val="FFFFFF"/>
            </a:solidFill>
            <a:prstDash val="solid"/>
          </a:ln>
        </p:spPr>
        <p:txBody>
          <a:bodyPr/>
          <a:lstStyle/>
          <a:p>
            <a:endParaRPr lang="en-US"/>
          </a:p>
        </p:txBody>
      </p:sp>
      <p:sp>
        <p:nvSpPr>
          <p:cNvPr id="15" name="Shape 12"/>
          <p:cNvSpPr/>
          <p:nvPr/>
        </p:nvSpPr>
        <p:spPr>
          <a:xfrm>
            <a:off x="5625389" y="1682496"/>
            <a:ext cx="0" cy="173736"/>
          </a:xfrm>
          <a:prstGeom prst="line">
            <a:avLst/>
          </a:prstGeom>
          <a:noFill/>
          <a:ln w="19050">
            <a:solidFill>
              <a:srgbClr val="1A1A1A"/>
            </a:solidFill>
            <a:prstDash val="solid"/>
          </a:ln>
        </p:spPr>
        <p:txBody>
          <a:bodyPr/>
          <a:lstStyle/>
          <a:p>
            <a:endParaRPr lang="en-US"/>
          </a:p>
        </p:txBody>
      </p:sp>
      <p:sp>
        <p:nvSpPr>
          <p:cNvPr id="16" name="Text 13"/>
          <p:cNvSpPr txBox="1"/>
          <p:nvPr/>
        </p:nvSpPr>
        <p:spPr>
          <a:xfrm>
            <a:off x="6492240" y="1645920"/>
            <a:ext cx="201168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0.692</a:t>
            </a:r>
            <a:r>
              <a:rPr lang="en-US" sz="1400" dirty="0">
                <a:solidFill>
                  <a:srgbClr val="6C7A89"/>
                </a:solidFill>
                <a:latin typeface="Calibri" pitchFamily="34" charset="0"/>
                <a:ea typeface="Calibri" pitchFamily="34" charset="-122"/>
                <a:cs typeface="Calibri" pitchFamily="34" charset="-120"/>
              </a:rPr>
              <a:t>  [0.585, 0.790]</a:t>
            </a:r>
            <a:endParaRPr lang="en-US" sz="1400" dirty="0"/>
          </a:p>
        </p:txBody>
      </p:sp>
      <p:sp>
        <p:nvSpPr>
          <p:cNvPr id="17" name="Text 14"/>
          <p:cNvSpPr txBox="1"/>
          <p:nvPr/>
        </p:nvSpPr>
        <p:spPr>
          <a:xfrm>
            <a:off x="548640" y="2011680"/>
            <a:ext cx="2286000" cy="246888"/>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BM25</a:t>
            </a:r>
            <a:endParaRPr lang="en-US" sz="1400" dirty="0"/>
          </a:p>
        </p:txBody>
      </p:sp>
      <p:sp>
        <p:nvSpPr>
          <p:cNvPr id="18" name="Shape 15"/>
          <p:cNvSpPr/>
          <p:nvPr/>
        </p:nvSpPr>
        <p:spPr>
          <a:xfrm>
            <a:off x="2880360" y="2011680"/>
            <a:ext cx="2286366" cy="246888"/>
          </a:xfrm>
          <a:prstGeom prst="rect">
            <a:avLst/>
          </a:prstGeom>
          <a:solidFill>
            <a:srgbClr val="6C7A89"/>
          </a:solidFill>
          <a:ln w="12700">
            <a:solidFill>
              <a:srgbClr val="6C7A89"/>
            </a:solidFill>
            <a:prstDash val="solid"/>
          </a:ln>
        </p:spPr>
        <p:txBody>
          <a:bodyPr/>
          <a:lstStyle/>
          <a:p>
            <a:endParaRPr lang="en-US"/>
          </a:p>
        </p:txBody>
      </p:sp>
      <p:sp>
        <p:nvSpPr>
          <p:cNvPr id="19" name="Shape 16"/>
          <p:cNvSpPr/>
          <p:nvPr/>
        </p:nvSpPr>
        <p:spPr>
          <a:xfrm>
            <a:off x="4784507" y="2135124"/>
            <a:ext cx="382219" cy="0"/>
          </a:xfrm>
          <a:prstGeom prst="line">
            <a:avLst/>
          </a:prstGeom>
          <a:noFill/>
          <a:ln w="19050">
            <a:solidFill>
              <a:srgbClr val="FFFFFF"/>
            </a:solidFill>
            <a:prstDash val="solid"/>
          </a:ln>
        </p:spPr>
        <p:txBody>
          <a:bodyPr/>
          <a:lstStyle/>
          <a:p>
            <a:endParaRPr lang="en-US"/>
          </a:p>
        </p:txBody>
      </p:sp>
      <p:sp>
        <p:nvSpPr>
          <p:cNvPr id="20" name="Shape 17"/>
          <p:cNvSpPr/>
          <p:nvPr/>
        </p:nvSpPr>
        <p:spPr>
          <a:xfrm>
            <a:off x="5166726" y="2135124"/>
            <a:ext cx="364846" cy="0"/>
          </a:xfrm>
          <a:prstGeom prst="line">
            <a:avLst/>
          </a:prstGeom>
          <a:noFill/>
          <a:ln w="19050">
            <a:solidFill>
              <a:srgbClr val="1A1A1A"/>
            </a:solidFill>
            <a:prstDash val="solid"/>
          </a:ln>
        </p:spPr>
        <p:txBody>
          <a:bodyPr/>
          <a:lstStyle/>
          <a:p>
            <a:endParaRPr lang="en-US"/>
          </a:p>
        </p:txBody>
      </p:sp>
      <p:sp>
        <p:nvSpPr>
          <p:cNvPr id="21" name="Shape 18"/>
          <p:cNvSpPr/>
          <p:nvPr/>
        </p:nvSpPr>
        <p:spPr>
          <a:xfrm>
            <a:off x="4784507" y="2048256"/>
            <a:ext cx="0" cy="173736"/>
          </a:xfrm>
          <a:prstGeom prst="line">
            <a:avLst/>
          </a:prstGeom>
          <a:noFill/>
          <a:ln w="19050">
            <a:solidFill>
              <a:srgbClr val="FFFFFF"/>
            </a:solidFill>
            <a:prstDash val="solid"/>
          </a:ln>
        </p:spPr>
        <p:txBody>
          <a:bodyPr/>
          <a:lstStyle/>
          <a:p>
            <a:endParaRPr lang="en-US"/>
          </a:p>
        </p:txBody>
      </p:sp>
      <p:sp>
        <p:nvSpPr>
          <p:cNvPr id="22" name="Shape 19"/>
          <p:cNvSpPr/>
          <p:nvPr/>
        </p:nvSpPr>
        <p:spPr>
          <a:xfrm>
            <a:off x="5531571" y="2048256"/>
            <a:ext cx="0" cy="173736"/>
          </a:xfrm>
          <a:prstGeom prst="line">
            <a:avLst/>
          </a:prstGeom>
          <a:noFill/>
          <a:ln w="19050">
            <a:solidFill>
              <a:srgbClr val="1A1A1A"/>
            </a:solidFill>
            <a:prstDash val="solid"/>
          </a:ln>
        </p:spPr>
        <p:txBody>
          <a:bodyPr/>
          <a:lstStyle/>
          <a:p>
            <a:endParaRPr lang="en-US"/>
          </a:p>
        </p:txBody>
      </p:sp>
      <p:sp>
        <p:nvSpPr>
          <p:cNvPr id="23" name="Text 20"/>
          <p:cNvSpPr txBox="1"/>
          <p:nvPr/>
        </p:nvSpPr>
        <p:spPr>
          <a:xfrm>
            <a:off x="6492240" y="2011680"/>
            <a:ext cx="201168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0.658</a:t>
            </a:r>
            <a:r>
              <a:rPr lang="en-US" sz="1400" dirty="0">
                <a:solidFill>
                  <a:srgbClr val="6C7A89"/>
                </a:solidFill>
                <a:latin typeface="Calibri" pitchFamily="34" charset="0"/>
                <a:ea typeface="Calibri" pitchFamily="34" charset="-122"/>
                <a:cs typeface="Calibri" pitchFamily="34" charset="-120"/>
              </a:rPr>
              <a:t>  [0.548, 0.763]</a:t>
            </a:r>
            <a:endParaRPr lang="en-US" sz="1400" dirty="0"/>
          </a:p>
        </p:txBody>
      </p:sp>
      <p:sp>
        <p:nvSpPr>
          <p:cNvPr id="24" name="Text 21"/>
          <p:cNvSpPr txBox="1"/>
          <p:nvPr/>
        </p:nvSpPr>
        <p:spPr>
          <a:xfrm>
            <a:off x="548640" y="2377440"/>
            <a:ext cx="2286000" cy="246888"/>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MiniLM</a:t>
            </a:r>
            <a:endParaRPr lang="en-US" sz="1400" dirty="0"/>
          </a:p>
        </p:txBody>
      </p:sp>
      <p:sp>
        <p:nvSpPr>
          <p:cNvPr id="25" name="Shape 22"/>
          <p:cNvSpPr/>
          <p:nvPr/>
        </p:nvSpPr>
        <p:spPr>
          <a:xfrm>
            <a:off x="2880360" y="2377440"/>
            <a:ext cx="2936138" cy="246888"/>
          </a:xfrm>
          <a:prstGeom prst="rect">
            <a:avLst/>
          </a:prstGeom>
          <a:solidFill>
            <a:srgbClr val="1F3A5F"/>
          </a:solidFill>
          <a:ln w="12700">
            <a:solidFill>
              <a:srgbClr val="1F3A5F"/>
            </a:solidFill>
            <a:prstDash val="solid"/>
          </a:ln>
        </p:spPr>
        <p:txBody>
          <a:bodyPr/>
          <a:lstStyle/>
          <a:p>
            <a:endParaRPr lang="en-US"/>
          </a:p>
        </p:txBody>
      </p:sp>
      <p:sp>
        <p:nvSpPr>
          <p:cNvPr id="26" name="Shape 23"/>
          <p:cNvSpPr/>
          <p:nvPr/>
        </p:nvSpPr>
        <p:spPr>
          <a:xfrm>
            <a:off x="5538521" y="2500884"/>
            <a:ext cx="277978" cy="0"/>
          </a:xfrm>
          <a:prstGeom prst="line">
            <a:avLst/>
          </a:prstGeom>
          <a:noFill/>
          <a:ln w="19050">
            <a:solidFill>
              <a:srgbClr val="FFFFFF"/>
            </a:solidFill>
            <a:prstDash val="solid"/>
          </a:ln>
        </p:spPr>
        <p:txBody>
          <a:bodyPr/>
          <a:lstStyle/>
          <a:p>
            <a:endParaRPr lang="en-US"/>
          </a:p>
        </p:txBody>
      </p:sp>
      <p:sp>
        <p:nvSpPr>
          <p:cNvPr id="27" name="Shape 24"/>
          <p:cNvSpPr/>
          <p:nvPr/>
        </p:nvSpPr>
        <p:spPr>
          <a:xfrm>
            <a:off x="5816498" y="2500884"/>
            <a:ext cx="236281" cy="0"/>
          </a:xfrm>
          <a:prstGeom prst="line">
            <a:avLst/>
          </a:prstGeom>
          <a:noFill/>
          <a:ln w="19050">
            <a:solidFill>
              <a:srgbClr val="1A1A1A"/>
            </a:solidFill>
            <a:prstDash val="solid"/>
          </a:ln>
        </p:spPr>
        <p:txBody>
          <a:bodyPr/>
          <a:lstStyle/>
          <a:p>
            <a:endParaRPr lang="en-US"/>
          </a:p>
        </p:txBody>
      </p:sp>
      <p:sp>
        <p:nvSpPr>
          <p:cNvPr id="28" name="Shape 25"/>
          <p:cNvSpPr/>
          <p:nvPr/>
        </p:nvSpPr>
        <p:spPr>
          <a:xfrm>
            <a:off x="5538521" y="2414016"/>
            <a:ext cx="0" cy="173736"/>
          </a:xfrm>
          <a:prstGeom prst="line">
            <a:avLst/>
          </a:prstGeom>
          <a:noFill/>
          <a:ln w="19050">
            <a:solidFill>
              <a:srgbClr val="FFFFFF"/>
            </a:solidFill>
            <a:prstDash val="solid"/>
          </a:ln>
        </p:spPr>
        <p:txBody>
          <a:bodyPr/>
          <a:lstStyle/>
          <a:p>
            <a:endParaRPr lang="en-US"/>
          </a:p>
        </p:txBody>
      </p:sp>
      <p:sp>
        <p:nvSpPr>
          <p:cNvPr id="29" name="Shape 26"/>
          <p:cNvSpPr/>
          <p:nvPr/>
        </p:nvSpPr>
        <p:spPr>
          <a:xfrm>
            <a:off x="6052779" y="2414016"/>
            <a:ext cx="0" cy="173736"/>
          </a:xfrm>
          <a:prstGeom prst="line">
            <a:avLst/>
          </a:prstGeom>
          <a:noFill/>
          <a:ln w="19050">
            <a:solidFill>
              <a:srgbClr val="1A1A1A"/>
            </a:solidFill>
            <a:prstDash val="solid"/>
          </a:ln>
        </p:spPr>
        <p:txBody>
          <a:bodyPr/>
          <a:lstStyle/>
          <a:p>
            <a:endParaRPr lang="en-US"/>
          </a:p>
        </p:txBody>
      </p:sp>
      <p:sp>
        <p:nvSpPr>
          <p:cNvPr id="30" name="Text 27"/>
          <p:cNvSpPr txBox="1"/>
          <p:nvPr/>
        </p:nvSpPr>
        <p:spPr>
          <a:xfrm>
            <a:off x="6492240" y="2377440"/>
            <a:ext cx="201168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0.845</a:t>
            </a:r>
            <a:r>
              <a:rPr lang="en-US" sz="1400" dirty="0">
                <a:solidFill>
                  <a:srgbClr val="6C7A89"/>
                </a:solidFill>
                <a:latin typeface="Calibri" pitchFamily="34" charset="0"/>
                <a:ea typeface="Calibri" pitchFamily="34" charset="-122"/>
                <a:cs typeface="Calibri" pitchFamily="34" charset="-120"/>
              </a:rPr>
              <a:t>  [0.765, 0.913]</a:t>
            </a:r>
            <a:endParaRPr lang="en-US" sz="1400" dirty="0"/>
          </a:p>
        </p:txBody>
      </p:sp>
      <p:sp>
        <p:nvSpPr>
          <p:cNvPr id="31" name="Text 28"/>
          <p:cNvSpPr txBox="1"/>
          <p:nvPr/>
        </p:nvSpPr>
        <p:spPr>
          <a:xfrm>
            <a:off x="548640" y="2743200"/>
            <a:ext cx="228600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Multilingual E5-base</a:t>
            </a:r>
            <a:endParaRPr lang="en-US" sz="1400" dirty="0"/>
          </a:p>
        </p:txBody>
      </p:sp>
      <p:sp>
        <p:nvSpPr>
          <p:cNvPr id="32" name="Shape 29"/>
          <p:cNvSpPr/>
          <p:nvPr/>
        </p:nvSpPr>
        <p:spPr>
          <a:xfrm>
            <a:off x="2880360" y="2743200"/>
            <a:ext cx="3102925" cy="246888"/>
          </a:xfrm>
          <a:prstGeom prst="rect">
            <a:avLst/>
          </a:prstGeom>
          <a:solidFill>
            <a:srgbClr val="1F3A5F"/>
          </a:solidFill>
          <a:ln w="12700">
            <a:solidFill>
              <a:srgbClr val="1F3A5F"/>
            </a:solidFill>
            <a:prstDash val="solid"/>
          </a:ln>
        </p:spPr>
        <p:txBody>
          <a:bodyPr/>
          <a:lstStyle/>
          <a:p>
            <a:endParaRPr lang="en-US"/>
          </a:p>
        </p:txBody>
      </p:sp>
      <p:sp>
        <p:nvSpPr>
          <p:cNvPr id="33" name="Shape 30"/>
          <p:cNvSpPr/>
          <p:nvPr/>
        </p:nvSpPr>
        <p:spPr>
          <a:xfrm>
            <a:off x="5750479" y="2866644"/>
            <a:ext cx="232806" cy="0"/>
          </a:xfrm>
          <a:prstGeom prst="line">
            <a:avLst/>
          </a:prstGeom>
          <a:noFill/>
          <a:ln w="19050">
            <a:solidFill>
              <a:srgbClr val="FFFFFF"/>
            </a:solidFill>
            <a:prstDash val="solid"/>
          </a:ln>
        </p:spPr>
        <p:txBody>
          <a:bodyPr/>
          <a:lstStyle/>
          <a:p>
            <a:endParaRPr lang="en-US"/>
          </a:p>
        </p:txBody>
      </p:sp>
      <p:sp>
        <p:nvSpPr>
          <p:cNvPr id="34" name="Shape 31"/>
          <p:cNvSpPr/>
          <p:nvPr/>
        </p:nvSpPr>
        <p:spPr>
          <a:xfrm>
            <a:off x="5983285" y="2866644"/>
            <a:ext cx="194584" cy="0"/>
          </a:xfrm>
          <a:prstGeom prst="line">
            <a:avLst/>
          </a:prstGeom>
          <a:noFill/>
          <a:ln w="19050">
            <a:solidFill>
              <a:srgbClr val="1A1A1A"/>
            </a:solidFill>
            <a:prstDash val="solid"/>
          </a:ln>
        </p:spPr>
        <p:txBody>
          <a:bodyPr/>
          <a:lstStyle/>
          <a:p>
            <a:endParaRPr lang="en-US"/>
          </a:p>
        </p:txBody>
      </p:sp>
      <p:sp>
        <p:nvSpPr>
          <p:cNvPr id="35" name="Shape 32"/>
          <p:cNvSpPr/>
          <p:nvPr/>
        </p:nvSpPr>
        <p:spPr>
          <a:xfrm>
            <a:off x="5750479" y="2779776"/>
            <a:ext cx="0" cy="173736"/>
          </a:xfrm>
          <a:prstGeom prst="line">
            <a:avLst/>
          </a:prstGeom>
          <a:noFill/>
          <a:ln w="19050">
            <a:solidFill>
              <a:srgbClr val="FFFFFF"/>
            </a:solidFill>
            <a:prstDash val="solid"/>
          </a:ln>
        </p:spPr>
        <p:txBody>
          <a:bodyPr/>
          <a:lstStyle/>
          <a:p>
            <a:endParaRPr lang="en-US"/>
          </a:p>
        </p:txBody>
      </p:sp>
      <p:sp>
        <p:nvSpPr>
          <p:cNvPr id="36" name="Shape 33"/>
          <p:cNvSpPr/>
          <p:nvPr/>
        </p:nvSpPr>
        <p:spPr>
          <a:xfrm>
            <a:off x="6177869" y="2779776"/>
            <a:ext cx="0" cy="173736"/>
          </a:xfrm>
          <a:prstGeom prst="line">
            <a:avLst/>
          </a:prstGeom>
          <a:noFill/>
          <a:ln w="19050">
            <a:solidFill>
              <a:srgbClr val="1A1A1A"/>
            </a:solidFill>
            <a:prstDash val="solid"/>
          </a:ln>
        </p:spPr>
        <p:txBody>
          <a:bodyPr/>
          <a:lstStyle/>
          <a:p>
            <a:endParaRPr lang="en-US"/>
          </a:p>
        </p:txBody>
      </p:sp>
      <p:sp>
        <p:nvSpPr>
          <p:cNvPr id="37" name="Text 34"/>
          <p:cNvSpPr txBox="1"/>
          <p:nvPr/>
        </p:nvSpPr>
        <p:spPr>
          <a:xfrm>
            <a:off x="6492240" y="2743200"/>
            <a:ext cx="201168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0.893</a:t>
            </a:r>
            <a:r>
              <a:rPr lang="en-US" sz="1400" dirty="0">
                <a:solidFill>
                  <a:srgbClr val="6C7A89"/>
                </a:solidFill>
                <a:latin typeface="Calibri" pitchFamily="34" charset="0"/>
                <a:ea typeface="Calibri" pitchFamily="34" charset="-122"/>
                <a:cs typeface="Calibri" pitchFamily="34" charset="-120"/>
              </a:rPr>
              <a:t>  [0.826, 0.949]</a:t>
            </a:r>
            <a:endParaRPr lang="en-US" sz="1400" dirty="0"/>
          </a:p>
        </p:txBody>
      </p:sp>
      <p:sp>
        <p:nvSpPr>
          <p:cNvPr id="38" name="Text 35"/>
          <p:cNvSpPr txBox="1"/>
          <p:nvPr/>
        </p:nvSpPr>
        <p:spPr>
          <a:xfrm>
            <a:off x="548640" y="3108960"/>
            <a:ext cx="2286000" cy="246888"/>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Hybrid (RRF of BM25 and E5)</a:t>
            </a:r>
            <a:endParaRPr lang="en-US" sz="1400" dirty="0"/>
          </a:p>
        </p:txBody>
      </p:sp>
      <p:sp>
        <p:nvSpPr>
          <p:cNvPr id="39" name="Shape 36"/>
          <p:cNvSpPr/>
          <p:nvPr/>
        </p:nvSpPr>
        <p:spPr>
          <a:xfrm>
            <a:off x="2880360" y="3108960"/>
            <a:ext cx="2692908" cy="246888"/>
          </a:xfrm>
          <a:prstGeom prst="rect">
            <a:avLst/>
          </a:prstGeom>
          <a:solidFill>
            <a:srgbClr val="8E3B2F"/>
          </a:solidFill>
          <a:ln w="12700">
            <a:solidFill>
              <a:srgbClr val="8E3B2F"/>
            </a:solidFill>
            <a:prstDash val="solid"/>
          </a:ln>
        </p:spPr>
        <p:txBody>
          <a:bodyPr/>
          <a:lstStyle/>
          <a:p>
            <a:endParaRPr lang="en-US"/>
          </a:p>
        </p:txBody>
      </p:sp>
      <p:sp>
        <p:nvSpPr>
          <p:cNvPr id="40" name="Shape 37"/>
          <p:cNvSpPr/>
          <p:nvPr/>
        </p:nvSpPr>
        <p:spPr>
          <a:xfrm>
            <a:off x="5236220" y="3232404"/>
            <a:ext cx="337048" cy="0"/>
          </a:xfrm>
          <a:prstGeom prst="line">
            <a:avLst/>
          </a:prstGeom>
          <a:noFill/>
          <a:ln w="19050">
            <a:solidFill>
              <a:srgbClr val="FFFFFF"/>
            </a:solidFill>
            <a:prstDash val="solid"/>
          </a:ln>
        </p:spPr>
        <p:txBody>
          <a:bodyPr/>
          <a:lstStyle/>
          <a:p>
            <a:endParaRPr lang="en-US"/>
          </a:p>
        </p:txBody>
      </p:sp>
      <p:sp>
        <p:nvSpPr>
          <p:cNvPr id="41" name="Shape 38"/>
          <p:cNvSpPr/>
          <p:nvPr/>
        </p:nvSpPr>
        <p:spPr>
          <a:xfrm>
            <a:off x="5573268" y="3232404"/>
            <a:ext cx="291876" cy="0"/>
          </a:xfrm>
          <a:prstGeom prst="line">
            <a:avLst/>
          </a:prstGeom>
          <a:noFill/>
          <a:ln w="19050">
            <a:solidFill>
              <a:srgbClr val="1A1A1A"/>
            </a:solidFill>
            <a:prstDash val="solid"/>
          </a:ln>
        </p:spPr>
        <p:txBody>
          <a:bodyPr/>
          <a:lstStyle/>
          <a:p>
            <a:endParaRPr lang="en-US"/>
          </a:p>
        </p:txBody>
      </p:sp>
      <p:sp>
        <p:nvSpPr>
          <p:cNvPr id="42" name="Shape 39"/>
          <p:cNvSpPr/>
          <p:nvPr/>
        </p:nvSpPr>
        <p:spPr>
          <a:xfrm>
            <a:off x="5236220" y="3145536"/>
            <a:ext cx="0" cy="173736"/>
          </a:xfrm>
          <a:prstGeom prst="line">
            <a:avLst/>
          </a:prstGeom>
          <a:noFill/>
          <a:ln w="19050">
            <a:solidFill>
              <a:srgbClr val="FFFFFF"/>
            </a:solidFill>
            <a:prstDash val="solid"/>
          </a:ln>
        </p:spPr>
        <p:txBody>
          <a:bodyPr/>
          <a:lstStyle/>
          <a:p>
            <a:endParaRPr lang="en-US"/>
          </a:p>
        </p:txBody>
      </p:sp>
      <p:sp>
        <p:nvSpPr>
          <p:cNvPr id="43" name="Shape 40"/>
          <p:cNvSpPr/>
          <p:nvPr/>
        </p:nvSpPr>
        <p:spPr>
          <a:xfrm>
            <a:off x="5865144" y="3145536"/>
            <a:ext cx="0" cy="173736"/>
          </a:xfrm>
          <a:prstGeom prst="line">
            <a:avLst/>
          </a:prstGeom>
          <a:noFill/>
          <a:ln w="19050">
            <a:solidFill>
              <a:srgbClr val="1A1A1A"/>
            </a:solidFill>
            <a:prstDash val="solid"/>
          </a:ln>
        </p:spPr>
        <p:txBody>
          <a:bodyPr/>
          <a:lstStyle/>
          <a:p>
            <a:endParaRPr lang="en-US"/>
          </a:p>
        </p:txBody>
      </p:sp>
      <p:sp>
        <p:nvSpPr>
          <p:cNvPr id="44" name="Text 41"/>
          <p:cNvSpPr txBox="1"/>
          <p:nvPr/>
        </p:nvSpPr>
        <p:spPr>
          <a:xfrm>
            <a:off x="6492240" y="3108960"/>
            <a:ext cx="2011680" cy="246888"/>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0.775</a:t>
            </a:r>
            <a:r>
              <a:rPr lang="en-US" sz="1400" dirty="0">
                <a:solidFill>
                  <a:srgbClr val="6C7A89"/>
                </a:solidFill>
                <a:latin typeface="Calibri" pitchFamily="34" charset="0"/>
                <a:ea typeface="Calibri" pitchFamily="34" charset="-122"/>
                <a:cs typeface="Calibri" pitchFamily="34" charset="-120"/>
              </a:rPr>
              <a:t>  [0.678, 0.859]</a:t>
            </a:r>
            <a:endParaRPr lang="en-US" sz="1400" dirty="0"/>
          </a:p>
        </p:txBody>
      </p:sp>
      <p:sp>
        <p:nvSpPr>
          <p:cNvPr id="45" name="Shape 42"/>
          <p:cNvSpPr/>
          <p:nvPr/>
        </p:nvSpPr>
        <p:spPr>
          <a:xfrm>
            <a:off x="2880360" y="1234440"/>
            <a:ext cx="0" cy="2194560"/>
          </a:xfrm>
          <a:prstGeom prst="line">
            <a:avLst/>
          </a:prstGeom>
          <a:noFill/>
          <a:ln w="12700">
            <a:solidFill>
              <a:srgbClr val="1A1A1A"/>
            </a:solidFill>
            <a:prstDash val="solid"/>
          </a:ln>
        </p:spPr>
        <p:txBody>
          <a:bodyPr/>
          <a:lstStyle/>
          <a:p>
            <a:endParaRPr lang="en-US"/>
          </a:p>
        </p:txBody>
      </p:sp>
      <p:sp>
        <p:nvSpPr>
          <p:cNvPr id="46" name="Text 43"/>
          <p:cNvSpPr txBox="1"/>
          <p:nvPr/>
        </p:nvSpPr>
        <p:spPr>
          <a:xfrm>
            <a:off x="2606040" y="340156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0</a:t>
            </a:r>
            <a:endParaRPr lang="en-US" sz="1200" dirty="0"/>
          </a:p>
        </p:txBody>
      </p:sp>
      <p:sp>
        <p:nvSpPr>
          <p:cNvPr id="47" name="Text 44"/>
          <p:cNvSpPr txBox="1"/>
          <p:nvPr/>
        </p:nvSpPr>
        <p:spPr>
          <a:xfrm>
            <a:off x="4343400" y="340156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0.5</a:t>
            </a:r>
            <a:endParaRPr lang="en-US" sz="1200" dirty="0"/>
          </a:p>
        </p:txBody>
      </p:sp>
      <p:sp>
        <p:nvSpPr>
          <p:cNvPr id="48" name="Text 45"/>
          <p:cNvSpPr txBox="1"/>
          <p:nvPr/>
        </p:nvSpPr>
        <p:spPr>
          <a:xfrm>
            <a:off x="6080760" y="340156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1.0</a:t>
            </a:r>
            <a:endParaRPr lang="en-US" sz="1200" dirty="0"/>
          </a:p>
        </p:txBody>
      </p:sp>
      <p:sp>
        <p:nvSpPr>
          <p:cNvPr id="49" name="Text 46"/>
          <p:cNvSpPr txBox="1"/>
          <p:nvPr/>
        </p:nvSpPr>
        <p:spPr>
          <a:xfrm>
            <a:off x="548640" y="3401568"/>
            <a:ext cx="2286000" cy="201168"/>
          </a:xfrm>
          <a:prstGeom prst="rect">
            <a:avLst/>
          </a:prstGeom>
          <a:noFill/>
          <a:ln/>
        </p:spPr>
        <p:txBody>
          <a:bodyPr wrap="square" lIns="0" tIns="0" rIns="0" bIns="0" rtlCol="0" anchor="t"/>
          <a:lstStyle/>
          <a:p>
            <a:pPr marL="0" indent="0" algn="l">
              <a:buNone/>
            </a:pPr>
            <a:r>
              <a:rPr lang="en-US" sz="1200" dirty="0">
                <a:solidFill>
                  <a:srgbClr val="6C7A89"/>
                </a:solidFill>
                <a:latin typeface="Calibri" pitchFamily="34" charset="0"/>
                <a:ea typeface="Calibri" pitchFamily="34" charset="-122"/>
                <a:cs typeface="Calibri" pitchFamily="34" charset="-120"/>
              </a:rPr>
              <a:t>nDCG@10, line = 95% interval</a:t>
            </a:r>
            <a:endParaRPr lang="en-US" sz="1200" dirty="0"/>
          </a:p>
        </p:txBody>
      </p:sp>
      <p:sp>
        <p:nvSpPr>
          <p:cNvPr id="50" name="Text 47"/>
          <p:cNvSpPr txBox="1"/>
          <p:nvPr/>
        </p:nvSpPr>
        <p:spPr>
          <a:xfrm>
            <a:off x="548640" y="3931920"/>
            <a:ext cx="8046720" cy="320040"/>
          </a:xfrm>
          <a:prstGeom prst="rect">
            <a:avLst/>
          </a:prstGeom>
          <a:noFill/>
          <a:ln/>
        </p:spPr>
        <p:txBody>
          <a:bodyPr wrap="square" lIns="0" tIns="0" rIns="0" bIns="0" rtlCol="0" anchor="t"/>
          <a:lstStyle/>
          <a:p>
            <a:pPr marL="0" indent="0" algn="l">
              <a:buNone/>
            </a:pPr>
            <a:r>
              <a:rPr lang="en-US" sz="1700" b="1" dirty="0">
                <a:solidFill>
                  <a:srgbClr val="1A1A1A"/>
                </a:solidFill>
                <a:latin typeface="Calibri" pitchFamily="34" charset="0"/>
                <a:ea typeface="Calibri" pitchFamily="34" charset="-122"/>
                <a:cs typeface="Calibri" pitchFamily="34" charset="-120"/>
              </a:rPr>
              <a:t>Multilingual E5 reaches 0.893, against 0.692 for the best TF-IDF and 0.658 for BM25.</a:t>
            </a:r>
            <a:endParaRPr lang="en-US" sz="1700" dirty="0"/>
          </a:p>
        </p:txBody>
      </p:sp>
      <p:sp>
        <p:nvSpPr>
          <p:cNvPr id="51" name="Text 48"/>
          <p:cNvSpPr txBox="1"/>
          <p:nvPr/>
        </p:nvSpPr>
        <p:spPr>
          <a:xfrm>
            <a:off x="548640" y="4279392"/>
            <a:ext cx="8046720" cy="274320"/>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E5 also leads on MRR@10 (0.877) and Recall@10 (0.977).</a:t>
            </a:r>
            <a:endParaRPr lang="en-US" sz="1400" dirty="0"/>
          </a:p>
        </p:txBody>
      </p:sp>
      <p:sp>
        <p:nvSpPr>
          <p:cNvPr id="3"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Are the differences real?</a:t>
            </a:r>
            <a:endParaRPr lang="en-US" sz="2800" dirty="0"/>
          </a:p>
        </p:txBody>
      </p:sp>
      <p:sp>
        <p:nvSpPr>
          <p:cNvPr id="4" name="Text 1"/>
          <p:cNvSpPr txBox="1"/>
          <p:nvPr/>
        </p:nvSpPr>
        <p:spPr>
          <a:xfrm>
            <a:off x="548640" y="1161288"/>
            <a:ext cx="8046720" cy="256032"/>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Significant, and they survive the Bonferroni correction</a:t>
            </a:r>
            <a:endParaRPr lang="en-US" sz="1400" dirty="0"/>
          </a:p>
        </p:txBody>
      </p:sp>
      <p:sp>
        <p:nvSpPr>
          <p:cNvPr id="5" name="Text 2"/>
          <p:cNvSpPr txBox="1"/>
          <p:nvPr/>
        </p:nvSpPr>
        <p:spPr>
          <a:xfrm>
            <a:off x="548640" y="1444752"/>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MiniLM − BM25</a:t>
            </a:r>
            <a:endParaRPr lang="en-US" sz="1400" dirty="0"/>
          </a:p>
        </p:txBody>
      </p:sp>
      <p:sp>
        <p:nvSpPr>
          <p:cNvPr id="6" name="Shape 3"/>
          <p:cNvSpPr/>
          <p:nvPr/>
        </p:nvSpPr>
        <p:spPr>
          <a:xfrm>
            <a:off x="4373941" y="1577340"/>
            <a:ext cx="1155436" cy="0"/>
          </a:xfrm>
          <a:prstGeom prst="line">
            <a:avLst/>
          </a:prstGeom>
          <a:noFill/>
          <a:ln w="25400">
            <a:solidFill>
              <a:srgbClr val="1F3A5F"/>
            </a:solidFill>
            <a:prstDash val="solid"/>
          </a:ln>
        </p:spPr>
        <p:txBody>
          <a:bodyPr/>
          <a:lstStyle/>
          <a:p>
            <a:endParaRPr lang="en-US"/>
          </a:p>
        </p:txBody>
      </p:sp>
      <p:sp>
        <p:nvSpPr>
          <p:cNvPr id="7" name="Shape 4"/>
          <p:cNvSpPr/>
          <p:nvPr/>
        </p:nvSpPr>
        <p:spPr>
          <a:xfrm>
            <a:off x="4882713" y="1513332"/>
            <a:ext cx="128016" cy="128016"/>
          </a:xfrm>
          <a:prstGeom prst="ellipse">
            <a:avLst/>
          </a:prstGeom>
          <a:solidFill>
            <a:srgbClr val="1F3A5F"/>
          </a:solidFill>
          <a:ln w="19050">
            <a:solidFill>
              <a:srgbClr val="1F3A5F"/>
            </a:solidFill>
            <a:prstDash val="solid"/>
          </a:ln>
        </p:spPr>
        <p:txBody>
          <a:bodyPr/>
          <a:lstStyle/>
          <a:p>
            <a:endParaRPr lang="en-US"/>
          </a:p>
        </p:txBody>
      </p:sp>
      <p:sp>
        <p:nvSpPr>
          <p:cNvPr id="8" name="Text 5"/>
          <p:cNvSpPr txBox="1"/>
          <p:nvPr/>
        </p:nvSpPr>
        <p:spPr>
          <a:xfrm>
            <a:off x="6263640" y="1444752"/>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+0.187</a:t>
            </a:r>
            <a:r>
              <a:rPr lang="en-US" sz="1400" dirty="0">
                <a:solidFill>
                  <a:srgbClr val="6C7A89"/>
                </a:solidFill>
                <a:latin typeface="Calibri" pitchFamily="34" charset="0"/>
                <a:ea typeface="Calibri" pitchFamily="34" charset="-122"/>
                <a:cs typeface="Calibri" pitchFamily="34" charset="-120"/>
              </a:rPr>
              <a:t>  [+0.071, +0.305]</a:t>
            </a:r>
            <a:endParaRPr lang="en-US" sz="1400" dirty="0"/>
          </a:p>
        </p:txBody>
      </p:sp>
      <p:sp>
        <p:nvSpPr>
          <p:cNvPr id="9" name="Text 6"/>
          <p:cNvSpPr txBox="1"/>
          <p:nvPr/>
        </p:nvSpPr>
        <p:spPr>
          <a:xfrm>
            <a:off x="548640" y="1709928"/>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E5 − BM25</a:t>
            </a:r>
            <a:endParaRPr lang="en-US" sz="1400" dirty="0"/>
          </a:p>
        </p:txBody>
      </p:sp>
      <p:sp>
        <p:nvSpPr>
          <p:cNvPr id="10" name="Shape 7"/>
          <p:cNvSpPr/>
          <p:nvPr/>
        </p:nvSpPr>
        <p:spPr>
          <a:xfrm>
            <a:off x="4709709" y="1842516"/>
            <a:ext cx="952988" cy="0"/>
          </a:xfrm>
          <a:prstGeom prst="line">
            <a:avLst/>
          </a:prstGeom>
          <a:noFill/>
          <a:ln w="25400">
            <a:solidFill>
              <a:srgbClr val="1F3A5F"/>
            </a:solidFill>
            <a:prstDash val="solid"/>
          </a:ln>
        </p:spPr>
        <p:txBody>
          <a:bodyPr/>
          <a:lstStyle/>
          <a:p>
            <a:endParaRPr lang="en-US"/>
          </a:p>
        </p:txBody>
      </p:sp>
      <p:sp>
        <p:nvSpPr>
          <p:cNvPr id="11" name="Shape 8"/>
          <p:cNvSpPr/>
          <p:nvPr/>
        </p:nvSpPr>
        <p:spPr>
          <a:xfrm>
            <a:off x="5119726" y="1778508"/>
            <a:ext cx="128016" cy="128016"/>
          </a:xfrm>
          <a:prstGeom prst="ellipse">
            <a:avLst/>
          </a:prstGeom>
          <a:solidFill>
            <a:srgbClr val="1F3A5F"/>
          </a:solidFill>
          <a:ln w="19050">
            <a:solidFill>
              <a:srgbClr val="1F3A5F"/>
            </a:solidFill>
            <a:prstDash val="solid"/>
          </a:ln>
        </p:spPr>
        <p:txBody>
          <a:bodyPr/>
          <a:lstStyle/>
          <a:p>
            <a:endParaRPr lang="en-US"/>
          </a:p>
        </p:txBody>
      </p:sp>
      <p:sp>
        <p:nvSpPr>
          <p:cNvPr id="12" name="Text 9"/>
          <p:cNvSpPr txBox="1"/>
          <p:nvPr/>
        </p:nvSpPr>
        <p:spPr>
          <a:xfrm>
            <a:off x="6263640" y="1709928"/>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+0.235</a:t>
            </a:r>
            <a:r>
              <a:rPr lang="en-US" sz="1400" dirty="0">
                <a:solidFill>
                  <a:srgbClr val="6C7A89"/>
                </a:solidFill>
                <a:latin typeface="Calibri" pitchFamily="34" charset="0"/>
                <a:ea typeface="Calibri" pitchFamily="34" charset="-122"/>
                <a:cs typeface="Calibri" pitchFamily="34" charset="-120"/>
              </a:rPr>
              <a:t>  [+0.139, +0.332]</a:t>
            </a:r>
            <a:endParaRPr lang="en-US" sz="1400" dirty="0"/>
          </a:p>
        </p:txBody>
      </p:sp>
      <p:sp>
        <p:nvSpPr>
          <p:cNvPr id="13" name="Text 10"/>
          <p:cNvSpPr txBox="1"/>
          <p:nvPr/>
        </p:nvSpPr>
        <p:spPr>
          <a:xfrm>
            <a:off x="548640" y="1975104"/>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Hybrid − E5</a:t>
            </a:r>
            <a:endParaRPr lang="en-US" sz="1400" dirty="0"/>
          </a:p>
        </p:txBody>
      </p:sp>
      <p:sp>
        <p:nvSpPr>
          <p:cNvPr id="14" name="Shape 11"/>
          <p:cNvSpPr/>
          <p:nvPr/>
        </p:nvSpPr>
        <p:spPr>
          <a:xfrm>
            <a:off x="3075310" y="2107692"/>
            <a:ext cx="701162" cy="0"/>
          </a:xfrm>
          <a:prstGeom prst="line">
            <a:avLst/>
          </a:prstGeom>
          <a:noFill/>
          <a:ln w="25400">
            <a:solidFill>
              <a:srgbClr val="8E3B2F"/>
            </a:solidFill>
            <a:prstDash val="solid"/>
          </a:ln>
        </p:spPr>
        <p:txBody>
          <a:bodyPr/>
          <a:lstStyle/>
          <a:p>
            <a:endParaRPr lang="en-US"/>
          </a:p>
        </p:txBody>
      </p:sp>
      <p:sp>
        <p:nvSpPr>
          <p:cNvPr id="15" name="Shape 12"/>
          <p:cNvSpPr/>
          <p:nvPr/>
        </p:nvSpPr>
        <p:spPr>
          <a:xfrm>
            <a:off x="3376696" y="2043684"/>
            <a:ext cx="128016" cy="128016"/>
          </a:xfrm>
          <a:prstGeom prst="ellipse">
            <a:avLst/>
          </a:prstGeom>
          <a:solidFill>
            <a:srgbClr val="8E3B2F"/>
          </a:solidFill>
          <a:ln w="19050">
            <a:solidFill>
              <a:srgbClr val="8E3B2F"/>
            </a:solidFill>
            <a:prstDash val="solid"/>
          </a:ln>
        </p:spPr>
        <p:txBody>
          <a:bodyPr/>
          <a:lstStyle/>
          <a:p>
            <a:endParaRPr lang="en-US"/>
          </a:p>
        </p:txBody>
      </p:sp>
      <p:sp>
        <p:nvSpPr>
          <p:cNvPr id="16" name="Text 13"/>
          <p:cNvSpPr txBox="1"/>
          <p:nvPr/>
        </p:nvSpPr>
        <p:spPr>
          <a:xfrm>
            <a:off x="6263640" y="1975104"/>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−0.118</a:t>
            </a:r>
            <a:r>
              <a:rPr lang="en-US" sz="1400" dirty="0">
                <a:solidFill>
                  <a:srgbClr val="6C7A89"/>
                </a:solidFill>
                <a:latin typeface="Calibri" pitchFamily="34" charset="0"/>
                <a:ea typeface="Calibri" pitchFamily="34" charset="-122"/>
                <a:cs typeface="Calibri" pitchFamily="34" charset="-120"/>
              </a:rPr>
              <a:t>  [−0.192, −0.050]</a:t>
            </a:r>
            <a:endParaRPr lang="en-US" sz="1400" dirty="0"/>
          </a:p>
        </p:txBody>
      </p:sp>
      <p:sp>
        <p:nvSpPr>
          <p:cNvPr id="17" name="Text 14"/>
          <p:cNvSpPr txBox="1"/>
          <p:nvPr/>
        </p:nvSpPr>
        <p:spPr>
          <a:xfrm>
            <a:off x="548640" y="2240280"/>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Hybrid − BM25</a:t>
            </a:r>
            <a:endParaRPr lang="en-US" sz="1400" dirty="0"/>
          </a:p>
        </p:txBody>
      </p:sp>
      <p:sp>
        <p:nvSpPr>
          <p:cNvPr id="18" name="Shape 15"/>
          <p:cNvSpPr/>
          <p:nvPr/>
        </p:nvSpPr>
        <p:spPr>
          <a:xfrm>
            <a:off x="4398630" y="2372868"/>
            <a:ext cx="414772" cy="0"/>
          </a:xfrm>
          <a:prstGeom prst="line">
            <a:avLst/>
          </a:prstGeom>
          <a:noFill/>
          <a:ln w="25400">
            <a:solidFill>
              <a:srgbClr val="1F3A5F"/>
            </a:solidFill>
            <a:prstDash val="solid"/>
          </a:ln>
        </p:spPr>
        <p:txBody>
          <a:bodyPr/>
          <a:lstStyle/>
          <a:p>
            <a:endParaRPr lang="en-US"/>
          </a:p>
        </p:txBody>
      </p:sp>
      <p:sp>
        <p:nvSpPr>
          <p:cNvPr id="19" name="Shape 16"/>
          <p:cNvSpPr/>
          <p:nvPr/>
        </p:nvSpPr>
        <p:spPr>
          <a:xfrm>
            <a:off x="4537070" y="2308860"/>
            <a:ext cx="128016" cy="128016"/>
          </a:xfrm>
          <a:prstGeom prst="ellipse">
            <a:avLst/>
          </a:prstGeom>
          <a:solidFill>
            <a:srgbClr val="1F3A5F"/>
          </a:solidFill>
          <a:ln w="19050">
            <a:solidFill>
              <a:srgbClr val="1F3A5F"/>
            </a:solidFill>
            <a:prstDash val="solid"/>
          </a:ln>
        </p:spPr>
        <p:txBody>
          <a:bodyPr/>
          <a:lstStyle/>
          <a:p>
            <a:endParaRPr lang="en-US"/>
          </a:p>
        </p:txBody>
      </p:sp>
      <p:sp>
        <p:nvSpPr>
          <p:cNvPr id="20" name="Text 17"/>
          <p:cNvSpPr txBox="1"/>
          <p:nvPr/>
        </p:nvSpPr>
        <p:spPr>
          <a:xfrm>
            <a:off x="6263640" y="2240280"/>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+0.117</a:t>
            </a:r>
            <a:r>
              <a:rPr lang="en-US" sz="1400" dirty="0">
                <a:solidFill>
                  <a:srgbClr val="6C7A89"/>
                </a:solidFill>
                <a:latin typeface="Calibri" pitchFamily="34" charset="0"/>
                <a:ea typeface="Calibri" pitchFamily="34" charset="-122"/>
                <a:cs typeface="Calibri" pitchFamily="34" charset="-120"/>
              </a:rPr>
              <a:t>  [+0.076, +0.160]</a:t>
            </a:r>
            <a:endParaRPr lang="en-US" sz="1400" dirty="0"/>
          </a:p>
        </p:txBody>
      </p:sp>
      <p:sp>
        <p:nvSpPr>
          <p:cNvPr id="21" name="Text 18"/>
          <p:cNvSpPr txBox="1"/>
          <p:nvPr/>
        </p:nvSpPr>
        <p:spPr>
          <a:xfrm>
            <a:off x="548640" y="2606040"/>
            <a:ext cx="8046720" cy="256032"/>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Inconclusive: the interval includes 0</a:t>
            </a:r>
            <a:endParaRPr lang="en-US" sz="1400" dirty="0"/>
          </a:p>
        </p:txBody>
      </p:sp>
      <p:sp>
        <p:nvSpPr>
          <p:cNvPr id="22" name="Text 19"/>
          <p:cNvSpPr txBox="1"/>
          <p:nvPr/>
        </p:nvSpPr>
        <p:spPr>
          <a:xfrm>
            <a:off x="548640" y="2889504"/>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TF-IDF fixed − default</a:t>
            </a:r>
            <a:endParaRPr lang="en-US" sz="1400" dirty="0"/>
          </a:p>
        </p:txBody>
      </p:sp>
      <p:sp>
        <p:nvSpPr>
          <p:cNvPr id="23" name="Shape 20"/>
          <p:cNvSpPr/>
          <p:nvPr/>
        </p:nvSpPr>
        <p:spPr>
          <a:xfrm>
            <a:off x="3806099" y="3022092"/>
            <a:ext cx="888797" cy="0"/>
          </a:xfrm>
          <a:prstGeom prst="line">
            <a:avLst/>
          </a:prstGeom>
          <a:noFill/>
          <a:ln w="25400">
            <a:solidFill>
              <a:srgbClr val="6C7A89"/>
            </a:solidFill>
            <a:prstDash val="solid"/>
          </a:ln>
        </p:spPr>
        <p:txBody>
          <a:bodyPr/>
          <a:lstStyle/>
          <a:p>
            <a:endParaRPr lang="en-US"/>
          </a:p>
        </p:txBody>
      </p:sp>
      <p:sp>
        <p:nvSpPr>
          <p:cNvPr id="24" name="Shape 21"/>
          <p:cNvSpPr/>
          <p:nvPr/>
        </p:nvSpPr>
        <p:spPr>
          <a:xfrm>
            <a:off x="4171676" y="2958084"/>
            <a:ext cx="128016" cy="128016"/>
          </a:xfrm>
          <a:prstGeom prst="ellipse">
            <a:avLst/>
          </a:prstGeom>
          <a:solidFill>
            <a:srgbClr val="FFFFFF"/>
          </a:solidFill>
          <a:ln w="19050">
            <a:solidFill>
              <a:srgbClr val="6C7A89"/>
            </a:solidFill>
            <a:prstDash val="solid"/>
          </a:ln>
        </p:spPr>
        <p:txBody>
          <a:bodyPr/>
          <a:lstStyle/>
          <a:p>
            <a:endParaRPr lang="en-US"/>
          </a:p>
        </p:txBody>
      </p:sp>
      <p:sp>
        <p:nvSpPr>
          <p:cNvPr id="25" name="Text 22"/>
          <p:cNvSpPr txBox="1"/>
          <p:nvPr/>
        </p:nvSpPr>
        <p:spPr>
          <a:xfrm>
            <a:off x="6263640" y="2889504"/>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+0.043</a:t>
            </a:r>
            <a:r>
              <a:rPr lang="en-US" sz="1400" dirty="0">
                <a:solidFill>
                  <a:srgbClr val="6C7A89"/>
                </a:solidFill>
                <a:latin typeface="Calibri" pitchFamily="34" charset="0"/>
                <a:ea typeface="Calibri" pitchFamily="34" charset="-122"/>
                <a:cs typeface="Calibri" pitchFamily="34" charset="-120"/>
              </a:rPr>
              <a:t>  [−0.044, +0.136]</a:t>
            </a:r>
            <a:endParaRPr lang="en-US" sz="1400" dirty="0"/>
          </a:p>
        </p:txBody>
      </p:sp>
      <p:sp>
        <p:nvSpPr>
          <p:cNvPr id="26" name="Text 23"/>
          <p:cNvSpPr txBox="1"/>
          <p:nvPr/>
        </p:nvSpPr>
        <p:spPr>
          <a:xfrm>
            <a:off x="548640" y="3154680"/>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BM25 − TF-IDF fixed</a:t>
            </a:r>
            <a:endParaRPr lang="en-US" sz="1400" dirty="0"/>
          </a:p>
        </p:txBody>
      </p:sp>
      <p:sp>
        <p:nvSpPr>
          <p:cNvPr id="27" name="Shape 24"/>
          <p:cNvSpPr/>
          <p:nvPr/>
        </p:nvSpPr>
        <p:spPr>
          <a:xfrm>
            <a:off x="3672779" y="3287268"/>
            <a:ext cx="370332" cy="0"/>
          </a:xfrm>
          <a:prstGeom prst="line">
            <a:avLst/>
          </a:prstGeom>
          <a:noFill/>
          <a:ln w="25400">
            <a:solidFill>
              <a:srgbClr val="6C7A89"/>
            </a:solidFill>
            <a:prstDash val="solid"/>
          </a:ln>
        </p:spPr>
        <p:txBody>
          <a:bodyPr/>
          <a:lstStyle/>
          <a:p>
            <a:endParaRPr lang="en-US"/>
          </a:p>
        </p:txBody>
      </p:sp>
      <p:sp>
        <p:nvSpPr>
          <p:cNvPr id="28" name="Shape 25"/>
          <p:cNvSpPr/>
          <p:nvPr/>
        </p:nvSpPr>
        <p:spPr>
          <a:xfrm>
            <a:off x="3791468" y="3223260"/>
            <a:ext cx="128016" cy="128016"/>
          </a:xfrm>
          <a:prstGeom prst="ellipse">
            <a:avLst/>
          </a:prstGeom>
          <a:solidFill>
            <a:srgbClr val="FFFFFF"/>
          </a:solidFill>
          <a:ln w="19050">
            <a:solidFill>
              <a:srgbClr val="6C7A89"/>
            </a:solidFill>
            <a:prstDash val="solid"/>
          </a:ln>
        </p:spPr>
        <p:txBody>
          <a:bodyPr/>
          <a:lstStyle/>
          <a:p>
            <a:endParaRPr lang="en-US"/>
          </a:p>
        </p:txBody>
      </p:sp>
      <p:sp>
        <p:nvSpPr>
          <p:cNvPr id="29" name="Text 26"/>
          <p:cNvSpPr txBox="1"/>
          <p:nvPr/>
        </p:nvSpPr>
        <p:spPr>
          <a:xfrm>
            <a:off x="6263640" y="3154680"/>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−0.034</a:t>
            </a:r>
            <a:r>
              <a:rPr lang="en-US" sz="1400" dirty="0">
                <a:solidFill>
                  <a:srgbClr val="6C7A89"/>
                </a:solidFill>
                <a:latin typeface="Calibri" pitchFamily="34" charset="0"/>
                <a:ea typeface="Calibri" pitchFamily="34" charset="-122"/>
                <a:cs typeface="Calibri" pitchFamily="34" charset="-120"/>
              </a:rPr>
              <a:t>  [−0.071, +0.004]</a:t>
            </a:r>
            <a:endParaRPr lang="en-US" sz="1400" dirty="0"/>
          </a:p>
        </p:txBody>
      </p:sp>
      <p:sp>
        <p:nvSpPr>
          <p:cNvPr id="30" name="Text 27"/>
          <p:cNvSpPr txBox="1"/>
          <p:nvPr/>
        </p:nvSpPr>
        <p:spPr>
          <a:xfrm>
            <a:off x="548640" y="3419856"/>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E5 − MiniLM</a:t>
            </a:r>
            <a:endParaRPr lang="en-US" sz="1400" dirty="0"/>
          </a:p>
        </p:txBody>
      </p:sp>
      <p:sp>
        <p:nvSpPr>
          <p:cNvPr id="31" name="Shape 28"/>
          <p:cNvSpPr/>
          <p:nvPr/>
        </p:nvSpPr>
        <p:spPr>
          <a:xfrm>
            <a:off x="3949294" y="3552444"/>
            <a:ext cx="617220" cy="0"/>
          </a:xfrm>
          <a:prstGeom prst="line">
            <a:avLst/>
          </a:prstGeom>
          <a:noFill/>
          <a:ln w="25400">
            <a:solidFill>
              <a:srgbClr val="6C7A89"/>
            </a:solidFill>
            <a:prstDash val="solid"/>
          </a:ln>
        </p:spPr>
        <p:txBody>
          <a:bodyPr/>
          <a:lstStyle/>
          <a:p>
            <a:endParaRPr lang="en-US"/>
          </a:p>
        </p:txBody>
      </p:sp>
      <p:sp>
        <p:nvSpPr>
          <p:cNvPr id="32" name="Shape 29"/>
          <p:cNvSpPr/>
          <p:nvPr/>
        </p:nvSpPr>
        <p:spPr>
          <a:xfrm>
            <a:off x="4196364" y="3488436"/>
            <a:ext cx="128016" cy="128016"/>
          </a:xfrm>
          <a:prstGeom prst="ellipse">
            <a:avLst/>
          </a:prstGeom>
          <a:solidFill>
            <a:srgbClr val="FFFFFF"/>
          </a:solidFill>
          <a:ln w="19050">
            <a:solidFill>
              <a:srgbClr val="6C7A89"/>
            </a:solidFill>
            <a:prstDash val="solid"/>
          </a:ln>
        </p:spPr>
        <p:txBody>
          <a:bodyPr/>
          <a:lstStyle/>
          <a:p>
            <a:endParaRPr lang="en-US"/>
          </a:p>
        </p:txBody>
      </p:sp>
      <p:sp>
        <p:nvSpPr>
          <p:cNvPr id="33" name="Text 30"/>
          <p:cNvSpPr txBox="1"/>
          <p:nvPr/>
        </p:nvSpPr>
        <p:spPr>
          <a:xfrm>
            <a:off x="6263640" y="3419856"/>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+0.048</a:t>
            </a:r>
            <a:r>
              <a:rPr lang="en-US" sz="1400" dirty="0">
                <a:solidFill>
                  <a:srgbClr val="6C7A89"/>
                </a:solidFill>
                <a:latin typeface="Calibri" pitchFamily="34" charset="0"/>
                <a:ea typeface="Calibri" pitchFamily="34" charset="-122"/>
                <a:cs typeface="Calibri" pitchFamily="34" charset="-120"/>
              </a:rPr>
              <a:t>  [−0.015, +0.110]</a:t>
            </a:r>
            <a:endParaRPr lang="en-US" sz="1400" dirty="0"/>
          </a:p>
        </p:txBody>
      </p:sp>
      <p:sp>
        <p:nvSpPr>
          <p:cNvPr id="34" name="Text 31"/>
          <p:cNvSpPr txBox="1"/>
          <p:nvPr/>
        </p:nvSpPr>
        <p:spPr>
          <a:xfrm>
            <a:off x="548640" y="3685032"/>
            <a:ext cx="2194560" cy="265176"/>
          </a:xfrm>
          <a:prstGeom prst="rect">
            <a:avLst/>
          </a:prstGeom>
          <a:noFill/>
          <a:ln/>
        </p:spPr>
        <p:txBody>
          <a:bodyPr wrap="square" lIns="0" tIns="0" rIns="0" bIns="0" rtlCol="0" anchor="ctr"/>
          <a:lstStyle/>
          <a:p>
            <a:pPr marL="0" indent="0" algn="l">
              <a:buNone/>
            </a:pPr>
            <a:r>
              <a:rPr lang="en-US" sz="1400" dirty="0">
                <a:solidFill>
                  <a:srgbClr val="1A1A1A"/>
                </a:solidFill>
                <a:latin typeface="Calibri" pitchFamily="34" charset="0"/>
                <a:ea typeface="Calibri" pitchFamily="34" charset="-122"/>
                <a:cs typeface="Calibri" pitchFamily="34" charset="-120"/>
              </a:rPr>
              <a:t>Hybrid − MiniLM</a:t>
            </a:r>
            <a:endParaRPr lang="en-US" sz="1400" dirty="0"/>
          </a:p>
        </p:txBody>
      </p:sp>
      <p:sp>
        <p:nvSpPr>
          <p:cNvPr id="35" name="Shape 32"/>
          <p:cNvSpPr/>
          <p:nvPr/>
        </p:nvSpPr>
        <p:spPr>
          <a:xfrm>
            <a:off x="3218505" y="3817620"/>
            <a:ext cx="943112" cy="0"/>
          </a:xfrm>
          <a:prstGeom prst="line">
            <a:avLst/>
          </a:prstGeom>
          <a:noFill/>
          <a:ln w="25400">
            <a:solidFill>
              <a:srgbClr val="6C7A89"/>
            </a:solidFill>
            <a:prstDash val="solid"/>
          </a:ln>
        </p:spPr>
        <p:txBody>
          <a:bodyPr/>
          <a:lstStyle/>
          <a:p>
            <a:endParaRPr lang="en-US"/>
          </a:p>
        </p:txBody>
      </p:sp>
      <p:sp>
        <p:nvSpPr>
          <p:cNvPr id="36" name="Shape 33"/>
          <p:cNvSpPr/>
          <p:nvPr/>
        </p:nvSpPr>
        <p:spPr>
          <a:xfrm>
            <a:off x="3613709" y="3753612"/>
            <a:ext cx="128016" cy="128016"/>
          </a:xfrm>
          <a:prstGeom prst="ellipse">
            <a:avLst/>
          </a:prstGeom>
          <a:solidFill>
            <a:srgbClr val="FFFFFF"/>
          </a:solidFill>
          <a:ln w="19050">
            <a:solidFill>
              <a:srgbClr val="6C7A89"/>
            </a:solidFill>
            <a:prstDash val="solid"/>
          </a:ln>
        </p:spPr>
        <p:txBody>
          <a:bodyPr/>
          <a:lstStyle/>
          <a:p>
            <a:endParaRPr lang="en-US"/>
          </a:p>
        </p:txBody>
      </p:sp>
      <p:sp>
        <p:nvSpPr>
          <p:cNvPr id="37" name="Text 34"/>
          <p:cNvSpPr txBox="1"/>
          <p:nvPr/>
        </p:nvSpPr>
        <p:spPr>
          <a:xfrm>
            <a:off x="6263640" y="3685032"/>
            <a:ext cx="2377440" cy="265176"/>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−0.070</a:t>
            </a:r>
            <a:r>
              <a:rPr lang="en-US" sz="1400" dirty="0">
                <a:solidFill>
                  <a:srgbClr val="6C7A89"/>
                </a:solidFill>
                <a:latin typeface="Calibri" pitchFamily="34" charset="0"/>
                <a:ea typeface="Calibri" pitchFamily="34" charset="-122"/>
                <a:cs typeface="Calibri" pitchFamily="34" charset="-120"/>
              </a:rPr>
              <a:t>  [−0.163, +0.028]</a:t>
            </a:r>
            <a:endParaRPr lang="en-US" sz="1400" dirty="0"/>
          </a:p>
        </p:txBody>
      </p:sp>
      <p:sp>
        <p:nvSpPr>
          <p:cNvPr id="38" name="Shape 35"/>
          <p:cNvSpPr/>
          <p:nvPr/>
        </p:nvSpPr>
        <p:spPr>
          <a:xfrm>
            <a:off x="4023360" y="1417320"/>
            <a:ext cx="0" cy="2560320"/>
          </a:xfrm>
          <a:prstGeom prst="line">
            <a:avLst/>
          </a:prstGeom>
          <a:noFill/>
          <a:ln w="12700">
            <a:solidFill>
              <a:srgbClr val="1A1A1A"/>
            </a:solidFill>
            <a:prstDash val="solid"/>
          </a:ln>
        </p:spPr>
        <p:txBody>
          <a:bodyPr/>
          <a:lstStyle/>
          <a:p>
            <a:endParaRPr lang="en-US"/>
          </a:p>
        </p:txBody>
      </p:sp>
      <p:sp>
        <p:nvSpPr>
          <p:cNvPr id="39" name="Text 36"/>
          <p:cNvSpPr txBox="1"/>
          <p:nvPr/>
        </p:nvSpPr>
        <p:spPr>
          <a:xfrm>
            <a:off x="2761488" y="399592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−0.2</a:t>
            </a:r>
            <a:endParaRPr lang="en-US" sz="1200" dirty="0"/>
          </a:p>
        </p:txBody>
      </p:sp>
      <p:sp>
        <p:nvSpPr>
          <p:cNvPr id="40" name="Text 37"/>
          <p:cNvSpPr txBox="1"/>
          <p:nvPr/>
        </p:nvSpPr>
        <p:spPr>
          <a:xfrm>
            <a:off x="3749040" y="399592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0</a:t>
            </a:r>
            <a:endParaRPr lang="en-US" sz="1200" dirty="0"/>
          </a:p>
        </p:txBody>
      </p:sp>
      <p:sp>
        <p:nvSpPr>
          <p:cNvPr id="41" name="Text 38"/>
          <p:cNvSpPr txBox="1"/>
          <p:nvPr/>
        </p:nvSpPr>
        <p:spPr>
          <a:xfrm>
            <a:off x="4736592" y="399592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+0.2</a:t>
            </a:r>
            <a:endParaRPr lang="en-US" sz="1200" dirty="0"/>
          </a:p>
        </p:txBody>
      </p:sp>
      <p:sp>
        <p:nvSpPr>
          <p:cNvPr id="42" name="Text 39"/>
          <p:cNvSpPr txBox="1"/>
          <p:nvPr/>
        </p:nvSpPr>
        <p:spPr>
          <a:xfrm>
            <a:off x="5724144" y="3995928"/>
            <a:ext cx="548640" cy="201168"/>
          </a:xfrm>
          <a:prstGeom prst="rect">
            <a:avLst/>
          </a:prstGeom>
          <a:noFill/>
          <a:ln/>
        </p:spPr>
        <p:txBody>
          <a:bodyPr wrap="square" lIns="0" tIns="0" rIns="0" bIns="0" rtlCol="0" anchor="t"/>
          <a:lstStyle/>
          <a:p>
            <a:pPr marL="0" indent="0" algn="ctr">
              <a:buNone/>
            </a:pPr>
            <a:r>
              <a:rPr lang="en-US" sz="1200" dirty="0">
                <a:solidFill>
                  <a:srgbClr val="6C7A89"/>
                </a:solidFill>
                <a:latin typeface="Calibri" pitchFamily="34" charset="0"/>
                <a:ea typeface="Calibri" pitchFamily="34" charset="-122"/>
                <a:cs typeface="Calibri" pitchFamily="34" charset="-120"/>
              </a:rPr>
              <a:t>+0.4</a:t>
            </a:r>
            <a:endParaRPr lang="en-US" sz="1200" dirty="0"/>
          </a:p>
        </p:txBody>
      </p:sp>
      <p:sp>
        <p:nvSpPr>
          <p:cNvPr id="43" name="Text 40"/>
          <p:cNvSpPr txBox="1"/>
          <p:nvPr/>
        </p:nvSpPr>
        <p:spPr>
          <a:xfrm>
            <a:off x="548640" y="3995928"/>
            <a:ext cx="2194560" cy="201168"/>
          </a:xfrm>
          <a:prstGeom prst="rect">
            <a:avLst/>
          </a:prstGeom>
          <a:noFill/>
          <a:ln/>
        </p:spPr>
        <p:txBody>
          <a:bodyPr wrap="square" lIns="0" tIns="0" rIns="0" bIns="0" rtlCol="0" anchor="t"/>
          <a:lstStyle/>
          <a:p>
            <a:pPr marL="0" indent="0" algn="l">
              <a:buNone/>
            </a:pPr>
            <a:r>
              <a:rPr lang="en-US" sz="1200" dirty="0">
                <a:solidFill>
                  <a:srgbClr val="6C7A89"/>
                </a:solidFill>
                <a:latin typeface="Calibri" pitchFamily="34" charset="0"/>
                <a:ea typeface="Calibri" pitchFamily="34" charset="-122"/>
                <a:cs typeface="Calibri" pitchFamily="34" charset="-120"/>
              </a:rPr>
              <a:t>nDCG@10 difference, first − second</a:t>
            </a:r>
            <a:endParaRPr lang="en-US" sz="1200" dirty="0"/>
          </a:p>
        </p:txBody>
      </p:sp>
      <p:sp>
        <p:nvSpPr>
          <p:cNvPr id="44" name="Text 41"/>
          <p:cNvSpPr txBox="1"/>
          <p:nvPr/>
        </p:nvSpPr>
        <p:spPr>
          <a:xfrm>
            <a:off x="548640" y="4297680"/>
            <a:ext cx="8046720" cy="292608"/>
          </a:xfrm>
          <a:prstGeom prst="rect">
            <a:avLst/>
          </a:prstGeom>
          <a:noFill/>
          <a:ln/>
        </p:spPr>
        <p:txBody>
          <a:bodyPr wrap="square" lIns="0" tIns="0" rIns="0" bIns="0" rtlCol="0" anchor="t"/>
          <a:lstStyle/>
          <a:p>
            <a:pPr marL="0" indent="0" algn="l">
              <a:buNone/>
            </a:pPr>
            <a:r>
              <a:rPr lang="en-US" sz="1700" b="1" dirty="0">
                <a:solidFill>
                  <a:srgbClr val="1A1A1A"/>
                </a:solidFill>
                <a:latin typeface="Calibri" pitchFamily="34" charset="0"/>
                <a:ea typeface="Calibri" pitchFamily="34" charset="-122"/>
                <a:cs typeface="Calibri" pitchFamily="34" charset="-120"/>
              </a:rPr>
              <a:t>We cannot claim E5 is better than MiniLM.</a:t>
            </a:r>
            <a:endParaRPr lang="en-US" sz="1700" dirty="0"/>
          </a:p>
        </p:txBody>
      </p:sp>
      <p:sp>
        <p:nvSpPr>
          <p:cNvPr id="3"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Why embeddings win</a:t>
            </a:r>
            <a:endParaRPr lang="en-US" sz="2800" dirty="0"/>
          </a:p>
        </p:txBody>
      </p:sp>
      <p:sp>
        <p:nvSpPr>
          <p:cNvPr id="4" name="Shape 1"/>
          <p:cNvSpPr/>
          <p:nvPr/>
        </p:nvSpPr>
        <p:spPr>
          <a:xfrm>
            <a:off x="548640" y="1508760"/>
            <a:ext cx="3379622" cy="256032"/>
          </a:xfrm>
          <a:prstGeom prst="rect">
            <a:avLst/>
          </a:prstGeom>
          <a:solidFill>
            <a:srgbClr val="1F3A5F"/>
          </a:solidFill>
          <a:ln w="12700">
            <a:solidFill>
              <a:srgbClr val="1F3A5F"/>
            </a:solidFill>
            <a:prstDash val="solid"/>
          </a:ln>
        </p:spPr>
        <p:txBody>
          <a:bodyPr/>
          <a:lstStyle/>
          <a:p>
            <a:endParaRPr lang="en-US"/>
          </a:p>
        </p:txBody>
      </p:sp>
      <p:sp>
        <p:nvSpPr>
          <p:cNvPr id="5" name="Text 2"/>
          <p:cNvSpPr txBox="1"/>
          <p:nvPr/>
        </p:nvSpPr>
        <p:spPr>
          <a:xfrm>
            <a:off x="548640" y="1197864"/>
            <a:ext cx="2743200" cy="274320"/>
          </a:xfrm>
          <a:prstGeom prst="rect">
            <a:avLst/>
          </a:prstGeom>
          <a:noFill/>
          <a:ln/>
        </p:spPr>
        <p:txBody>
          <a:bodyPr wrap="square" lIns="0" tIns="0" rIns="0" bIns="0" rtlCol="0" anchor="b"/>
          <a:lstStyle/>
          <a:p>
            <a:pPr marL="0" indent="0" algn="l">
              <a:buNone/>
            </a:pPr>
            <a:r>
              <a:rPr lang="en-US" sz="1800" b="1" dirty="0">
                <a:solidFill>
                  <a:srgbClr val="1A1A1A"/>
                </a:solidFill>
                <a:latin typeface="Georgia" pitchFamily="34" charset="0"/>
                <a:ea typeface="Georgia" pitchFamily="34" charset="-122"/>
                <a:cs typeface="Georgia" pitchFamily="34" charset="-120"/>
              </a:rPr>
              <a:t>21</a:t>
            </a:r>
            <a:r>
              <a:rPr lang="en-US" sz="1400" dirty="0">
                <a:solidFill>
                  <a:srgbClr val="1A1A1A"/>
                </a:solidFill>
                <a:latin typeface="Calibri" pitchFamily="34" charset="0"/>
                <a:ea typeface="Calibri" pitchFamily="34" charset="-122"/>
                <a:cs typeface="Calibri" pitchFamily="34" charset="-120"/>
              </a:rPr>
              <a:t>  embeddings win</a:t>
            </a:r>
            <a:endParaRPr lang="en-US" sz="1600" dirty="0"/>
          </a:p>
        </p:txBody>
      </p:sp>
      <p:sp>
        <p:nvSpPr>
          <p:cNvPr id="6" name="Shape 3"/>
          <p:cNvSpPr/>
          <p:nvPr/>
        </p:nvSpPr>
        <p:spPr>
          <a:xfrm>
            <a:off x="3928262" y="1508760"/>
            <a:ext cx="321869" cy="256032"/>
          </a:xfrm>
          <a:prstGeom prst="rect">
            <a:avLst/>
          </a:prstGeom>
          <a:solidFill>
            <a:srgbClr val="6C7A89"/>
          </a:solidFill>
          <a:ln w="12700">
            <a:solidFill>
              <a:srgbClr val="6C7A89"/>
            </a:solidFill>
            <a:prstDash val="solid"/>
          </a:ln>
        </p:spPr>
        <p:txBody>
          <a:bodyPr/>
          <a:lstStyle/>
          <a:p>
            <a:endParaRPr lang="en-US"/>
          </a:p>
        </p:txBody>
      </p:sp>
      <p:sp>
        <p:nvSpPr>
          <p:cNvPr id="7" name="Text 4"/>
          <p:cNvSpPr txBox="1"/>
          <p:nvPr/>
        </p:nvSpPr>
        <p:spPr>
          <a:xfrm>
            <a:off x="3928262" y="1810512"/>
            <a:ext cx="2194560" cy="274320"/>
          </a:xfrm>
          <a:prstGeom prst="rect">
            <a:avLst/>
          </a:prstGeom>
          <a:noFill/>
          <a:ln/>
        </p:spPr>
        <p:txBody>
          <a:bodyPr wrap="square" lIns="0" tIns="0" rIns="0" bIns="0" rtlCol="0" anchor="t"/>
          <a:lstStyle/>
          <a:p>
            <a:pPr marL="0" indent="0" algn="l">
              <a:buNone/>
            </a:pPr>
            <a:r>
              <a:rPr lang="en-US" sz="1800" b="1" dirty="0">
                <a:solidFill>
                  <a:srgbClr val="1A1A1A"/>
                </a:solidFill>
                <a:latin typeface="Georgia" pitchFamily="34" charset="0"/>
                <a:ea typeface="Georgia" pitchFamily="34" charset="-122"/>
                <a:cs typeface="Georgia" pitchFamily="34" charset="-120"/>
              </a:rPr>
              <a:t>2</a:t>
            </a:r>
            <a:r>
              <a:rPr lang="en-US" sz="1400" dirty="0">
                <a:solidFill>
                  <a:srgbClr val="1A1A1A"/>
                </a:solidFill>
                <a:latin typeface="Calibri" pitchFamily="34" charset="0"/>
                <a:ea typeface="Calibri" pitchFamily="34" charset="-122"/>
                <a:cs typeface="Calibri" pitchFamily="34" charset="-120"/>
              </a:rPr>
              <a:t>  keyword wins</a:t>
            </a:r>
            <a:endParaRPr lang="en-US" sz="1600" dirty="0"/>
          </a:p>
        </p:txBody>
      </p:sp>
      <p:sp>
        <p:nvSpPr>
          <p:cNvPr id="8" name="Shape 5"/>
          <p:cNvSpPr/>
          <p:nvPr/>
        </p:nvSpPr>
        <p:spPr>
          <a:xfrm>
            <a:off x="4250131" y="1508760"/>
            <a:ext cx="3862426" cy="256032"/>
          </a:xfrm>
          <a:prstGeom prst="rect">
            <a:avLst/>
          </a:prstGeom>
          <a:solidFill>
            <a:srgbClr val="C3C9D0"/>
          </a:solidFill>
          <a:ln w="12700">
            <a:solidFill>
              <a:srgbClr val="C3C9D0"/>
            </a:solidFill>
            <a:prstDash val="solid"/>
          </a:ln>
        </p:spPr>
        <p:txBody>
          <a:bodyPr/>
          <a:lstStyle/>
          <a:p>
            <a:endParaRPr lang="en-US"/>
          </a:p>
        </p:txBody>
      </p:sp>
      <p:sp>
        <p:nvSpPr>
          <p:cNvPr id="9" name="Text 6"/>
          <p:cNvSpPr txBox="1"/>
          <p:nvPr/>
        </p:nvSpPr>
        <p:spPr>
          <a:xfrm>
            <a:off x="4250131" y="1197864"/>
            <a:ext cx="2743200" cy="274320"/>
          </a:xfrm>
          <a:prstGeom prst="rect">
            <a:avLst/>
          </a:prstGeom>
          <a:noFill/>
          <a:ln/>
        </p:spPr>
        <p:txBody>
          <a:bodyPr wrap="square" lIns="0" tIns="0" rIns="0" bIns="0" rtlCol="0" anchor="b"/>
          <a:lstStyle/>
          <a:p>
            <a:pPr marL="0" indent="0" algn="l">
              <a:buNone/>
            </a:pPr>
            <a:r>
              <a:rPr lang="en-US" sz="1800" b="1" dirty="0">
                <a:solidFill>
                  <a:srgbClr val="1A1A1A"/>
                </a:solidFill>
                <a:latin typeface="Georgia" pitchFamily="34" charset="0"/>
                <a:ea typeface="Georgia" pitchFamily="34" charset="-122"/>
                <a:cs typeface="Georgia" pitchFamily="34" charset="-120"/>
              </a:rPr>
              <a:t>24</a:t>
            </a:r>
            <a:r>
              <a:rPr lang="en-US" sz="1400" dirty="0">
                <a:solidFill>
                  <a:srgbClr val="1A1A1A"/>
                </a:solidFill>
                <a:latin typeface="Calibri" pitchFamily="34" charset="0"/>
                <a:ea typeface="Calibri" pitchFamily="34" charset="-122"/>
                <a:cs typeface="Calibri" pitchFamily="34" charset="-120"/>
              </a:rPr>
              <a:t>  both solve it</a:t>
            </a:r>
            <a:endParaRPr lang="en-US" sz="1600" dirty="0"/>
          </a:p>
        </p:txBody>
      </p:sp>
      <p:sp>
        <p:nvSpPr>
          <p:cNvPr id="10" name="Shape 7"/>
          <p:cNvSpPr/>
          <p:nvPr/>
        </p:nvSpPr>
        <p:spPr>
          <a:xfrm>
            <a:off x="8112557" y="1508760"/>
            <a:ext cx="482803" cy="256032"/>
          </a:xfrm>
          <a:prstGeom prst="rect">
            <a:avLst/>
          </a:prstGeom>
          <a:solidFill>
            <a:srgbClr val="FFFFFF"/>
          </a:solidFill>
          <a:ln w="9525">
            <a:solidFill>
              <a:srgbClr val="1A1A1A"/>
            </a:solidFill>
            <a:prstDash val="solid"/>
          </a:ln>
        </p:spPr>
        <p:txBody>
          <a:bodyPr/>
          <a:lstStyle/>
          <a:p>
            <a:endParaRPr lang="en-US"/>
          </a:p>
        </p:txBody>
      </p:sp>
      <p:sp>
        <p:nvSpPr>
          <p:cNvPr id="11" name="Text 8"/>
          <p:cNvSpPr txBox="1"/>
          <p:nvPr/>
        </p:nvSpPr>
        <p:spPr>
          <a:xfrm>
            <a:off x="6400800" y="1810512"/>
            <a:ext cx="2194560" cy="274320"/>
          </a:xfrm>
          <a:prstGeom prst="rect">
            <a:avLst/>
          </a:prstGeom>
          <a:noFill/>
          <a:ln/>
        </p:spPr>
        <p:txBody>
          <a:bodyPr wrap="square" lIns="0" tIns="0" rIns="0" bIns="0" rtlCol="0" anchor="t"/>
          <a:lstStyle/>
          <a:p>
            <a:pPr marL="0" indent="0" algn="r">
              <a:buNone/>
            </a:pPr>
            <a:r>
              <a:rPr lang="en-US" sz="1800" b="1" dirty="0">
                <a:solidFill>
                  <a:srgbClr val="1A1A1A"/>
                </a:solidFill>
                <a:latin typeface="Georgia" pitchFamily="34" charset="0"/>
                <a:ea typeface="Georgia" pitchFamily="34" charset="-122"/>
                <a:cs typeface="Georgia" pitchFamily="34" charset="-120"/>
              </a:rPr>
              <a:t>3</a:t>
            </a:r>
            <a:r>
              <a:rPr lang="en-US" sz="1400" dirty="0">
                <a:solidFill>
                  <a:srgbClr val="1A1A1A"/>
                </a:solidFill>
                <a:latin typeface="Calibri" pitchFamily="34" charset="0"/>
                <a:ea typeface="Calibri" pitchFamily="34" charset="-122"/>
                <a:cs typeface="Calibri" pitchFamily="34" charset="-120"/>
              </a:rPr>
              <a:t>  both struggle</a:t>
            </a:r>
            <a:endParaRPr lang="en-US" sz="1600" dirty="0"/>
          </a:p>
        </p:txBody>
      </p:sp>
      <p:sp>
        <p:nvSpPr>
          <p:cNvPr id="12" name="Text 9"/>
          <p:cNvSpPr txBox="1"/>
          <p:nvPr/>
        </p:nvSpPr>
        <p:spPr>
          <a:xfrm>
            <a:off x="548640" y="2103120"/>
            <a:ext cx="8046720" cy="256032"/>
          </a:xfrm>
          <a:prstGeom prst="rect">
            <a:avLst/>
          </a:prstGeom>
          <a:noFill/>
          <a:ln/>
        </p:spPr>
        <p:txBody>
          <a:bodyPr wrap="square" lIns="0" tIns="0" rIns="0" bIns="0" rtlCol="0" anchor="t"/>
          <a:lstStyle/>
          <a:p>
            <a:pPr marL="0" indent="0" algn="l">
              <a:buNone/>
            </a:pPr>
            <a:r>
              <a:rPr lang="en-US" sz="1400" dirty="0">
                <a:solidFill>
                  <a:srgbClr val="1A1A1A"/>
                </a:solidFill>
                <a:latin typeface="Calibri" pitchFamily="34" charset="0"/>
                <a:ea typeface="Calibri" pitchFamily="34" charset="-122"/>
                <a:cs typeface="Calibri" pitchFamily="34" charset="-120"/>
              </a:rPr>
              <a:t>BM25 vs E5. Win = nDCG@10 at least 0.10 higher. Every method solves 16 of 50 queries perfectly.</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8046720" cy="914400"/>
        </p:xfrm>
        <a:graphic>
          <a:graphicData uri="http://schemas.openxmlformats.org/drawingml/2006/table">
            <a:tbl>
              <a:tblPr/>
              <a:tblGrid>
                <a:gridCol w="960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274320">
                <a:tc>
                  <a:txBody>
                    <a:bodyPr/>
                    <a:lstStyle/>
                    <a:p>
                      <a:pPr marL="0" indent="0">
                        <a:buNone/>
                      </a:pPr>
                      <a:r>
                        <a:rPr lang="en-US" sz="1400" b="1" dirty="0">
                          <a:solidFill>
                            <a:srgbClr val="1A1A1A"/>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buNone/>
                      </a:pPr>
                      <a:r>
                        <a:rPr lang="en-US" sz="1400" b="1" dirty="0">
                          <a:solidFill>
                            <a:srgbClr val="1A1A1A"/>
                          </a:solidFill>
                          <a:latin typeface="Calibri" pitchFamily="34" charset="0"/>
                          <a:ea typeface="Calibri" pitchFamily="34" charset="-122"/>
                          <a:cs typeface="Calibri" pitchFamily="34" charset="-120"/>
                        </a:rPr>
                        <a:t>Query, then relevant document</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BM25 rank</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E5 rank</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Hybrid rank</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Spelling</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buNone/>
                      </a:pPr>
                      <a:r>
                        <a:rPr lang="en-US" sz="1400" dirty="0">
                          <a:solidFill>
                            <a:srgbClr val="1A1A1A"/>
                          </a:solidFill>
                          <a:latin typeface="Nirmala UI" pitchFamily="34" charset="0"/>
                          <a:ea typeface="Nirmala UI" pitchFamily="34" charset="-122"/>
                          <a:cs typeface="Nirmala UI" pitchFamily="34" charset="-120"/>
                        </a:rPr>
                        <a:t>मैं अपने कैरियर के हित का निर्धारण कैसे करूं?</a:t>
                      </a:r>
                      <a:endParaRPr lang="en-US" sz="1400" dirty="0">
                        <a:latin typeface="Calibri" charset="0"/>
                        <a:ea typeface="Calibri" charset="0"/>
                        <a:cs typeface="Calibri" charset="0"/>
                      </a:endParaRPr>
                    </a:p>
                    <a:p>
                      <a:pPr marL="0" indent="0">
                        <a:buNone/>
                      </a:pPr>
                      <a:r>
                        <a:rPr lang="en-US" sz="1400" dirty="0">
                          <a:solidFill>
                            <a:srgbClr val="6C7A89"/>
                          </a:solidFill>
                          <a:latin typeface="Nirmala UI" pitchFamily="34" charset="0"/>
                          <a:ea typeface="Nirmala UI" pitchFamily="34" charset="-122"/>
                          <a:cs typeface="Nirmala UI" pitchFamily="34" charset="-120"/>
                        </a:rPr>
                        <a:t>मैं अपने करियर के हितों का पता कैसे लगा सकता हूँ?</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Paraphrase</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buNone/>
                      </a:pPr>
                      <a:r>
                        <a:rPr lang="en-US" sz="1400" dirty="0">
                          <a:solidFill>
                            <a:srgbClr val="1A1A1A"/>
                          </a:solidFill>
                          <a:latin typeface="Nirmala UI" pitchFamily="34" charset="0"/>
                          <a:ea typeface="Nirmala UI" pitchFamily="34" charset="-122"/>
                          <a:cs typeface="Nirmala UI" pitchFamily="34" charset="-120"/>
                        </a:rPr>
                        <a:t>क्या रमा मांस खाता है?</a:t>
                      </a:r>
                      <a:endParaRPr lang="en-US" sz="1400" dirty="0">
                        <a:latin typeface="Calibri" charset="0"/>
                        <a:ea typeface="Calibri" charset="0"/>
                        <a:cs typeface="Calibri" charset="0"/>
                      </a:endParaRPr>
                    </a:p>
                    <a:p>
                      <a:pPr marL="0" indent="0">
                        <a:buNone/>
                      </a:pPr>
                      <a:r>
                        <a:rPr lang="en-US" sz="1400" dirty="0">
                          <a:solidFill>
                            <a:srgbClr val="6C7A89"/>
                          </a:solidFill>
                          <a:latin typeface="Nirmala UI" pitchFamily="34" charset="0"/>
                          <a:ea typeface="Nirmala UI" pitchFamily="34" charset="-122"/>
                          <a:cs typeface="Nirmala UI" pitchFamily="34" charset="-120"/>
                        </a:rPr>
                        <a:t>क्या भगवान राम मांस खाते थे?</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Generic</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buNone/>
                      </a:pPr>
                      <a:r>
                        <a:rPr lang="en-US" sz="1400" dirty="0">
                          <a:solidFill>
                            <a:srgbClr val="1A1A1A"/>
                          </a:solidFill>
                          <a:latin typeface="Nirmala UI" pitchFamily="34" charset="0"/>
                          <a:ea typeface="Nirmala UI" pitchFamily="34" charset="-122"/>
                          <a:cs typeface="Nirmala UI" pitchFamily="34" charset="-120"/>
                        </a:rPr>
                        <a:t>इसका इलाज कैसे किया जा सकता है?</a:t>
                      </a:r>
                      <a:endParaRPr lang="en-US" sz="1400" dirty="0">
                        <a:latin typeface="Calibri" charset="0"/>
                        <a:ea typeface="Calibri" charset="0"/>
                        <a:cs typeface="Calibri" charset="0"/>
                      </a:endParaRPr>
                    </a:p>
                    <a:p>
                      <a:pPr marL="0" indent="0">
                        <a:buNone/>
                      </a:pPr>
                      <a:r>
                        <a:rPr lang="en-US" sz="1400" dirty="0">
                          <a:solidFill>
                            <a:srgbClr val="6C7A89"/>
                          </a:solidFill>
                          <a:latin typeface="Nirmala UI" pitchFamily="34" charset="0"/>
                          <a:ea typeface="Nirmala UI" pitchFamily="34" charset="-122"/>
                          <a:cs typeface="Nirmala UI" pitchFamily="34" charset="-120"/>
                        </a:rPr>
                        <a:t>यदि नहीं, तो इसका इलाज कैसे किया जा सकता है?</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0" marR="45720" marT="18288" marB="18288"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Text 10"/>
          <p:cNvSpPr txBox="1"/>
          <p:nvPr/>
        </p:nvSpPr>
        <p:spPr>
          <a:xfrm>
            <a:off x="548640" y="4370832"/>
            <a:ext cx="8046720" cy="274320"/>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Embeddings win on paraphrases and spelling; some hard cases are dataset translation errors.</a:t>
            </a:r>
            <a:endParaRPr lang="en-US" sz="14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A negative result: the hybrid hurt</a:t>
            </a:r>
            <a:endParaRPr lang="en-US" sz="2800" dirty="0"/>
          </a:p>
        </p:txBody>
      </p:sp>
      <p:sp>
        <p:nvSpPr>
          <p:cNvPr id="4" name="Text 1"/>
          <p:cNvSpPr txBox="1"/>
          <p:nvPr/>
        </p:nvSpPr>
        <p:spPr>
          <a:xfrm>
            <a:off x="548640" y="1188720"/>
            <a:ext cx="3291840" cy="822960"/>
          </a:xfrm>
          <a:prstGeom prst="rect">
            <a:avLst/>
          </a:prstGeom>
          <a:noFill/>
          <a:ln/>
        </p:spPr>
        <p:txBody>
          <a:bodyPr wrap="square" lIns="0" tIns="0" rIns="0" bIns="0" rtlCol="0" anchor="ctr"/>
          <a:lstStyle/>
          <a:p>
            <a:pPr marL="0" indent="0" algn="l">
              <a:buNone/>
            </a:pPr>
            <a:r>
              <a:rPr lang="en-US" sz="4800" b="1" dirty="0">
                <a:solidFill>
                  <a:srgbClr val="8E3B2F"/>
                </a:solidFill>
                <a:latin typeface="Georgia" pitchFamily="34" charset="0"/>
                <a:ea typeface="Georgia" pitchFamily="34" charset="-122"/>
                <a:cs typeface="Georgia" pitchFamily="34" charset="-120"/>
              </a:rPr>
              <a:t>−0.118</a:t>
            </a:r>
            <a:endParaRPr lang="en-US" sz="4800" dirty="0"/>
          </a:p>
        </p:txBody>
      </p:sp>
      <p:sp>
        <p:nvSpPr>
          <p:cNvPr id="5" name="Text 2"/>
          <p:cNvSpPr txBox="1"/>
          <p:nvPr/>
        </p:nvSpPr>
        <p:spPr>
          <a:xfrm>
            <a:off x="548640" y="2011680"/>
            <a:ext cx="3291840" cy="50292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nDCG@10 against E5 alone (significant)</a:t>
            </a:r>
            <a:endParaRPr lang="en-US" sz="1600" dirty="0"/>
          </a:p>
        </p:txBody>
      </p:sp>
      <p:sp>
        <p:nvSpPr>
          <p:cNvPr id="6" name="Shape 3"/>
          <p:cNvSpPr/>
          <p:nvPr/>
        </p:nvSpPr>
        <p:spPr>
          <a:xfrm>
            <a:off x="548640" y="2743200"/>
            <a:ext cx="855878" cy="256032"/>
          </a:xfrm>
          <a:prstGeom prst="rect">
            <a:avLst/>
          </a:prstGeom>
          <a:solidFill>
            <a:srgbClr val="8E3B2F"/>
          </a:solidFill>
          <a:ln w="12700">
            <a:solidFill>
              <a:srgbClr val="8E3B2F"/>
            </a:solidFill>
            <a:prstDash val="solid"/>
          </a:ln>
        </p:spPr>
        <p:txBody>
          <a:bodyPr/>
          <a:lstStyle/>
          <a:p>
            <a:endParaRPr lang="en-US"/>
          </a:p>
        </p:txBody>
      </p:sp>
      <p:sp>
        <p:nvSpPr>
          <p:cNvPr id="7" name="Shape 4"/>
          <p:cNvSpPr/>
          <p:nvPr/>
        </p:nvSpPr>
        <p:spPr>
          <a:xfrm>
            <a:off x="1404518" y="2743200"/>
            <a:ext cx="2238451" cy="256032"/>
          </a:xfrm>
          <a:prstGeom prst="rect">
            <a:avLst/>
          </a:prstGeom>
          <a:solidFill>
            <a:srgbClr val="C3C9D0"/>
          </a:solidFill>
          <a:ln w="12700">
            <a:solidFill>
              <a:srgbClr val="C3C9D0"/>
            </a:solidFill>
            <a:prstDash val="solid"/>
          </a:ln>
        </p:spPr>
        <p:txBody>
          <a:bodyPr/>
          <a:lstStyle/>
          <a:p>
            <a:endParaRPr lang="en-US"/>
          </a:p>
        </p:txBody>
      </p:sp>
      <p:sp>
        <p:nvSpPr>
          <p:cNvPr id="8" name="Shape 5"/>
          <p:cNvSpPr/>
          <p:nvPr/>
        </p:nvSpPr>
        <p:spPr>
          <a:xfrm>
            <a:off x="3642970" y="2743200"/>
            <a:ext cx="197510" cy="256032"/>
          </a:xfrm>
          <a:prstGeom prst="rect">
            <a:avLst/>
          </a:prstGeom>
          <a:solidFill>
            <a:srgbClr val="1F3A5F"/>
          </a:solidFill>
          <a:ln w="12700">
            <a:solidFill>
              <a:srgbClr val="1F3A5F"/>
            </a:solidFill>
            <a:prstDash val="solid"/>
          </a:ln>
        </p:spPr>
        <p:txBody>
          <a:bodyPr/>
          <a:lstStyle/>
          <a:p>
            <a:endParaRPr lang="en-US"/>
          </a:p>
        </p:txBody>
      </p:sp>
      <p:sp>
        <p:nvSpPr>
          <p:cNvPr id="9" name="Text 6"/>
          <p:cNvSpPr txBox="1"/>
          <p:nvPr/>
        </p:nvSpPr>
        <p:spPr>
          <a:xfrm>
            <a:off x="548640" y="3063240"/>
            <a:ext cx="3291840" cy="274320"/>
          </a:xfrm>
          <a:prstGeom prst="rect">
            <a:avLst/>
          </a:prstGeom>
          <a:noFill/>
          <a:ln/>
        </p:spPr>
        <p:txBody>
          <a:bodyPr wrap="square" lIns="0" tIns="0" rIns="0" bIns="0" rtlCol="0" anchor="t"/>
          <a:lstStyle/>
          <a:p>
            <a:pPr marL="0" indent="0" algn="l">
              <a:buNone/>
            </a:pPr>
            <a:r>
              <a:rPr lang="en-US" sz="1400" b="1" dirty="0">
                <a:solidFill>
                  <a:srgbClr val="8E3B2F"/>
                </a:solidFill>
                <a:latin typeface="Calibri" pitchFamily="34" charset="0"/>
                <a:ea typeface="Calibri" pitchFamily="34" charset="-122"/>
                <a:cs typeface="Calibri" pitchFamily="34" charset="-120"/>
              </a:rPr>
              <a:t>13</a:t>
            </a:r>
            <a:r>
              <a:rPr lang="en-US" sz="1400" dirty="0">
                <a:solidFill>
                  <a:srgbClr val="1A1A1A"/>
                </a:solidFill>
                <a:latin typeface="Calibri" pitchFamily="34" charset="0"/>
                <a:ea typeface="Calibri" pitchFamily="34" charset="-122"/>
                <a:cs typeface="Calibri" pitchFamily="34" charset="-120"/>
              </a:rPr>
              <a:t> worse   </a:t>
            </a:r>
            <a:r>
              <a:rPr lang="en-US" sz="1400" b="1" dirty="0">
                <a:solidFill>
                  <a:srgbClr val="1A1A1A"/>
                </a:solidFill>
                <a:latin typeface="Calibri" pitchFamily="34" charset="0"/>
                <a:ea typeface="Calibri" pitchFamily="34" charset="-122"/>
                <a:cs typeface="Calibri" pitchFamily="34" charset="-120"/>
              </a:rPr>
              <a:t>34</a:t>
            </a:r>
            <a:r>
              <a:rPr lang="en-US" sz="1400" dirty="0">
                <a:solidFill>
                  <a:srgbClr val="1A1A1A"/>
                </a:solidFill>
                <a:latin typeface="Calibri" pitchFamily="34" charset="0"/>
                <a:ea typeface="Calibri" pitchFamily="34" charset="-122"/>
                <a:cs typeface="Calibri" pitchFamily="34" charset="-120"/>
              </a:rPr>
              <a:t> similar   </a:t>
            </a:r>
            <a:r>
              <a:rPr lang="en-US" sz="1400" b="1" dirty="0">
                <a:solidFill>
                  <a:srgbClr val="1F3A5F"/>
                </a:solidFill>
                <a:latin typeface="Calibri" pitchFamily="34" charset="0"/>
                <a:ea typeface="Calibri" pitchFamily="34" charset="-122"/>
                <a:cs typeface="Calibri" pitchFamily="34" charset="-120"/>
              </a:rPr>
              <a:t>3</a:t>
            </a:r>
            <a:r>
              <a:rPr lang="en-US" sz="1400" dirty="0">
                <a:solidFill>
                  <a:srgbClr val="1A1A1A"/>
                </a:solidFill>
                <a:latin typeface="Calibri" pitchFamily="34" charset="0"/>
                <a:ea typeface="Calibri" pitchFamily="34" charset="-122"/>
                <a:cs typeface="Calibri" pitchFamily="34" charset="-120"/>
              </a:rPr>
              <a:t> better</a:t>
            </a:r>
            <a:endParaRPr lang="en-US" sz="1400" dirty="0"/>
          </a:p>
        </p:txBody>
      </p:sp>
      <p:sp>
        <p:nvSpPr>
          <p:cNvPr id="10" name="Text 7"/>
          <p:cNvSpPr txBox="1"/>
          <p:nvPr/>
        </p:nvSpPr>
        <p:spPr>
          <a:xfrm>
            <a:off x="548640" y="3337560"/>
            <a:ext cx="3291840" cy="274320"/>
          </a:xfrm>
          <a:prstGeom prst="rect">
            <a:avLst/>
          </a:prstGeom>
          <a:noFill/>
          <a:ln/>
        </p:spPr>
        <p:txBody>
          <a:bodyPr wrap="square" lIns="0" tIns="0" rIns="0" bIns="0" rtlCol="0" anchor="t"/>
          <a:lstStyle/>
          <a:p>
            <a:pPr marL="0" indent="0" algn="l">
              <a:buNone/>
            </a:pPr>
            <a:r>
              <a:rPr lang="en-US" sz="1400" dirty="0">
                <a:solidFill>
                  <a:srgbClr val="6C7A89"/>
                </a:solidFill>
                <a:latin typeface="Calibri" pitchFamily="34" charset="0"/>
                <a:ea typeface="Calibri" pitchFamily="34" charset="-122"/>
                <a:cs typeface="Calibri" pitchFamily="34" charset="-120"/>
              </a:rPr>
              <a:t>queries, hybrid compared with E5 alone</a:t>
            </a:r>
            <a:endParaRPr lang="en-US" sz="1400" dirty="0"/>
          </a:p>
        </p:txBody>
      </p:sp>
      <p:sp>
        <p:nvSpPr>
          <p:cNvPr id="11" name="Shape 8"/>
          <p:cNvSpPr/>
          <p:nvPr/>
        </p:nvSpPr>
        <p:spPr>
          <a:xfrm>
            <a:off x="4114800" y="1280160"/>
            <a:ext cx="0" cy="3200400"/>
          </a:xfrm>
          <a:prstGeom prst="line">
            <a:avLst/>
          </a:prstGeom>
          <a:noFill/>
          <a:ln w="9525">
            <a:solidFill>
              <a:srgbClr val="C3C9D0"/>
            </a:solidFill>
            <a:prstDash val="solid"/>
          </a:ln>
        </p:spPr>
        <p:txBody>
          <a:bodyPr/>
          <a:lstStyle/>
          <a:p>
            <a:endParaRPr lang="en-US"/>
          </a:p>
        </p:txBody>
      </p:sp>
      <p:sp>
        <p:nvSpPr>
          <p:cNvPr id="12" name="Text 9"/>
          <p:cNvSpPr txBox="1"/>
          <p:nvPr/>
        </p:nvSpPr>
        <p:spPr>
          <a:xfrm>
            <a:off x="4389120" y="1234440"/>
            <a:ext cx="4206240" cy="868680"/>
          </a:xfrm>
          <a:prstGeom prst="rect">
            <a:avLst/>
          </a:prstGeom>
          <a:noFill/>
          <a:ln/>
        </p:spPr>
        <p:txBody>
          <a:bodyPr wrap="square" lIns="0" tIns="0" rIns="0" bIns="0" rtlCol="0" anchor="t"/>
          <a:lstStyle/>
          <a:p>
            <a:pPr marL="0" indent="0" algn="l">
              <a:buNone/>
            </a:pPr>
            <a:r>
              <a:rPr lang="en-US" sz="1600" b="1" dirty="0">
                <a:solidFill>
                  <a:srgbClr val="8E3B2F"/>
                </a:solidFill>
                <a:latin typeface="Calibri" pitchFamily="34" charset="0"/>
                <a:ea typeface="Calibri" pitchFamily="34" charset="-122"/>
                <a:cs typeface="Calibri" pitchFamily="34" charset="-120"/>
              </a:rPr>
              <a:t>Hypothesis: </a:t>
            </a:r>
            <a:r>
              <a:rPr lang="en-US" sz="1600" dirty="0">
                <a:solidFill>
                  <a:srgbClr val="1A1A1A"/>
                </a:solidFill>
                <a:latin typeface="Calibri" pitchFamily="34" charset="0"/>
                <a:ea typeface="Calibri" pitchFamily="34" charset="-122"/>
                <a:cs typeface="Calibri" pitchFamily="34" charset="-120"/>
              </a:rPr>
              <a:t>rank fusion (RRF) gives both methods an equal vote, so a poor BM25 rank can outweigh an excellent E5 rank.</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389120" y="2286000"/>
          <a:ext cx="4206240" cy="914400"/>
        </p:xfrm>
        <a:graphic>
          <a:graphicData uri="http://schemas.openxmlformats.org/drawingml/2006/table">
            <a:tbl>
              <a:tblPr/>
              <a:tblGrid>
                <a:gridCol w="10515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365760">
                <a:tc>
                  <a:txBody>
                    <a:bodyPr/>
                    <a:lstStyle/>
                    <a:p>
                      <a:pPr marL="0" indent="0">
                        <a:buNone/>
                      </a:pPr>
                      <a:r>
                        <a:rPr lang="en-US" sz="1400" b="1" dirty="0">
                          <a:solidFill>
                            <a:srgbClr val="1A1A1A"/>
                          </a:solidFill>
                          <a:latin typeface="Calibri" pitchFamily="34" charset="0"/>
                          <a:ea typeface="Calibri" pitchFamily="34" charset="-122"/>
                          <a:cs typeface="Calibri" pitchFamily="34" charset="-120"/>
                        </a:rPr>
                        <a:t>Document</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BM25</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E5</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marL="0" indent="0">
                        <a:buNone/>
                      </a:pPr>
                      <a:r>
                        <a:rPr lang="en-US" sz="1400" b="1" dirty="0">
                          <a:solidFill>
                            <a:srgbClr val="1A1A1A"/>
                          </a:solidFill>
                          <a:latin typeface="Calibri" pitchFamily="34" charset="0"/>
                          <a:ea typeface="Calibri" pitchFamily="34" charset="-122"/>
                          <a:cs typeface="Calibri" pitchFamily="34" charset="-120"/>
                        </a:rPr>
                        <a:t>RRF score</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Relevant</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68th</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1st</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1/128 + 1/61 = 0.0242</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12700" cap="flat" cmpd="sng" algn="ctr">
                      <a:solidFill>
                        <a:srgbClr val="1A1A1A"/>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dirty="0">
                          <a:solidFill>
                            <a:srgbClr val="1A1A1A"/>
                          </a:solidFill>
                          <a:latin typeface="Calibri" pitchFamily="34" charset="0"/>
                          <a:ea typeface="Calibri" pitchFamily="34" charset="-122"/>
                          <a:cs typeface="Calibri" pitchFamily="34" charset="-120"/>
                        </a:rPr>
                        <a:t>Not relevant</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1st</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lgn="ctr">
                        <a:buNone/>
                      </a:pPr>
                      <a:r>
                        <a:rPr lang="en-US" sz="1400" dirty="0">
                          <a:solidFill>
                            <a:srgbClr val="1A1A1A"/>
                          </a:solidFill>
                          <a:latin typeface="Calibri" pitchFamily="34" charset="0"/>
                          <a:ea typeface="Calibri" pitchFamily="34" charset="-122"/>
                          <a:cs typeface="Calibri" pitchFamily="34" charset="-120"/>
                        </a:rPr>
                        <a:t>5th</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tc>
                  <a:txBody>
                    <a:bodyPr/>
                    <a:lstStyle/>
                    <a:p>
                      <a:pPr marL="0" indent="0">
                        <a:buNone/>
                      </a:pPr>
                      <a:r>
                        <a:rPr lang="en-US" sz="1400" b="1" dirty="0">
                          <a:solidFill>
                            <a:srgbClr val="1A1A1A"/>
                          </a:solidFill>
                          <a:latin typeface="Calibri" pitchFamily="34" charset="0"/>
                          <a:ea typeface="Calibri" pitchFamily="34" charset="-122"/>
                          <a:cs typeface="Calibri" pitchFamily="34" charset="-120"/>
                        </a:rPr>
                        <a:t>1/61 + 1/65 = 0.0318</a:t>
                      </a:r>
                      <a:endParaRPr lang="en-US" sz="1400" dirty="0">
                        <a:latin typeface="Calibri" charset="0"/>
                        <a:ea typeface="Calibri" charset="0"/>
                        <a:cs typeface="Calibri" charset="0"/>
                      </a:endParaRPr>
                    </a:p>
                  </a:txBody>
                  <a:tcPr marL="0" marR="45720" marT="27432" marB="27432" anchor="ctr">
                    <a:lnL w="0" cap="flat" cmpd="sng" algn="ctr">
                      <a:noFill/>
                    </a:lnL>
                    <a:lnR w="0" cap="flat" cmpd="sng" algn="ctr">
                      <a:noFill/>
                    </a:lnR>
                    <a:lnT w="9525" cap="flat" cmpd="sng" algn="ctr">
                      <a:solidFill>
                        <a:srgbClr val="C3C9D0"/>
                      </a:solidFill>
                      <a:prstDash val="solid"/>
                      <a:round/>
                      <a:headEnd type="none" w="med" len="med"/>
                      <a:tailEnd type="none" w="med" len="med"/>
                    </a:lnT>
                    <a:lnB w="9525" cap="flat" cmpd="sng" algn="ctr">
                      <a:solidFill>
                        <a:srgbClr val="C3C9D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4" name="Text 10"/>
          <p:cNvSpPr txBox="1"/>
          <p:nvPr/>
        </p:nvSpPr>
        <p:spPr>
          <a:xfrm>
            <a:off x="4389120" y="3520440"/>
            <a:ext cx="4206240" cy="45720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The non-relevant document is ranked above the relevant one.</a:t>
            </a:r>
            <a:endParaRPr lang="en-US" sz="1600" dirty="0"/>
          </a:p>
        </p:txBody>
      </p:sp>
      <p:sp>
        <p:nvSpPr>
          <p:cNvPr id="15" name="Text 11"/>
          <p:cNvSpPr txBox="1"/>
          <p:nvPr/>
        </p:nvSpPr>
        <p:spPr>
          <a:xfrm>
            <a:off x="4389120" y="4114800"/>
            <a:ext cx="4206240" cy="274320"/>
          </a:xfrm>
          <a:prstGeom prst="rect">
            <a:avLst/>
          </a:prstGeom>
          <a:noFill/>
          <a:ln/>
        </p:spPr>
        <p:txBody>
          <a:bodyPr wrap="square" lIns="0" tIns="0" rIns="0" bIns="0" rtlCol="0" anchor="t"/>
          <a:lstStyle/>
          <a:p>
            <a:pPr marL="0" indent="0" algn="l">
              <a:buNone/>
            </a:pPr>
            <a:r>
              <a:rPr lang="en-US" sz="1400" dirty="0">
                <a:solidFill>
                  <a:srgbClr val="6C7A89"/>
                </a:solidFill>
                <a:latin typeface="Calibri" pitchFamily="34" charset="0"/>
                <a:ea typeface="Calibri" pitchFamily="34" charset="-122"/>
                <a:cs typeface="Calibri" pitchFamily="34" charset="-120"/>
              </a:rPr>
              <a:t>We tested equal-weight fusion only.</a:t>
            </a:r>
            <a:endParaRPr lang="en-US" sz="14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01752"/>
            <a:ext cx="8046720" cy="685800"/>
          </a:xfrm>
          <a:prstGeom prst="rect">
            <a:avLst/>
          </a:prstGeom>
          <a:noFill/>
          <a:ln/>
        </p:spPr>
        <p:txBody>
          <a:bodyPr wrap="square" lIns="0" tIns="0" rIns="0" bIns="0" rtlCol="0" anchor="ctr"/>
          <a:lstStyle/>
          <a:p>
            <a:pPr marL="0" indent="0" algn="l">
              <a:buNone/>
            </a:pPr>
            <a:r>
              <a:rPr lang="en-US" sz="2800" b="1" dirty="0">
                <a:solidFill>
                  <a:srgbClr val="1A1A1A"/>
                </a:solidFill>
                <a:latin typeface="Georgia" pitchFamily="34" charset="0"/>
                <a:ea typeface="Georgia" pitchFamily="34" charset="-122"/>
                <a:cs typeface="Georgia" pitchFamily="34" charset="-120"/>
              </a:rPr>
              <a:t>Conclusions</a:t>
            </a:r>
            <a:endParaRPr lang="en-US" sz="2800" dirty="0"/>
          </a:p>
        </p:txBody>
      </p:sp>
      <p:sp>
        <p:nvSpPr>
          <p:cNvPr id="4" name="Text 1"/>
          <p:cNvSpPr txBox="1"/>
          <p:nvPr/>
        </p:nvSpPr>
        <p:spPr>
          <a:xfrm>
            <a:off x="548640" y="1234440"/>
            <a:ext cx="365760" cy="457200"/>
          </a:xfrm>
          <a:prstGeom prst="rect">
            <a:avLst/>
          </a:prstGeom>
          <a:noFill/>
          <a:ln/>
        </p:spPr>
        <p:txBody>
          <a:bodyPr wrap="square" lIns="0" tIns="0" rIns="0" bIns="0" rtlCol="0" anchor="t"/>
          <a:lstStyle/>
          <a:p>
            <a:pPr marL="0" indent="0" algn="l">
              <a:buNone/>
            </a:pPr>
            <a:r>
              <a:rPr lang="en-US" sz="2400" b="1" dirty="0">
                <a:solidFill>
                  <a:srgbClr val="1F3A5F"/>
                </a:solidFill>
                <a:latin typeface="Georgia" pitchFamily="34" charset="0"/>
                <a:ea typeface="Georgia" pitchFamily="34" charset="-122"/>
                <a:cs typeface="Georgia" pitchFamily="34" charset="-120"/>
              </a:rPr>
              <a:t>1</a:t>
            </a:r>
            <a:endParaRPr lang="en-US" sz="2400" dirty="0"/>
          </a:p>
        </p:txBody>
      </p:sp>
      <p:sp>
        <p:nvSpPr>
          <p:cNvPr id="5" name="Text 2"/>
          <p:cNvSpPr txBox="1"/>
          <p:nvPr/>
        </p:nvSpPr>
        <p:spPr>
          <a:xfrm>
            <a:off x="960120" y="1261872"/>
            <a:ext cx="7635240" cy="45720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Embeddings clearly beat TF-IDF and BM25 on this dataset.</a:t>
            </a:r>
            <a:endParaRPr lang="en-US" sz="1600" dirty="0"/>
          </a:p>
        </p:txBody>
      </p:sp>
      <p:sp>
        <p:nvSpPr>
          <p:cNvPr id="6" name="Text 3"/>
          <p:cNvSpPr txBox="1"/>
          <p:nvPr/>
        </p:nvSpPr>
        <p:spPr>
          <a:xfrm>
            <a:off x="548640" y="1801368"/>
            <a:ext cx="365760" cy="457200"/>
          </a:xfrm>
          <a:prstGeom prst="rect">
            <a:avLst/>
          </a:prstGeom>
          <a:noFill/>
          <a:ln/>
        </p:spPr>
        <p:txBody>
          <a:bodyPr wrap="square" lIns="0" tIns="0" rIns="0" bIns="0" rtlCol="0" anchor="t"/>
          <a:lstStyle/>
          <a:p>
            <a:pPr marL="0" indent="0" algn="l">
              <a:buNone/>
            </a:pPr>
            <a:r>
              <a:rPr lang="en-US" sz="2400" b="1" dirty="0">
                <a:solidFill>
                  <a:srgbClr val="1F3A5F"/>
                </a:solidFill>
                <a:latin typeface="Georgia" pitchFamily="34" charset="0"/>
                <a:ea typeface="Georgia" pitchFamily="34" charset="-122"/>
                <a:cs typeface="Georgia" pitchFamily="34" charset="-120"/>
              </a:rPr>
              <a:t>2</a:t>
            </a:r>
            <a:endParaRPr lang="en-US" sz="2400" dirty="0"/>
          </a:p>
        </p:txBody>
      </p:sp>
      <p:sp>
        <p:nvSpPr>
          <p:cNvPr id="7" name="Text 4"/>
          <p:cNvSpPr txBox="1"/>
          <p:nvPr/>
        </p:nvSpPr>
        <p:spPr>
          <a:xfrm>
            <a:off x="960120" y="1828800"/>
            <a:ext cx="7635240" cy="45720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The simple hybrid does not help. The tokenizer bug is real, but its effect is not statistically clear.</a:t>
            </a:r>
            <a:endParaRPr lang="en-US" sz="1600" dirty="0"/>
          </a:p>
        </p:txBody>
      </p:sp>
      <p:sp>
        <p:nvSpPr>
          <p:cNvPr id="8" name="Text 5"/>
          <p:cNvSpPr txBox="1"/>
          <p:nvPr/>
        </p:nvSpPr>
        <p:spPr>
          <a:xfrm>
            <a:off x="548640" y="2368296"/>
            <a:ext cx="365760" cy="457200"/>
          </a:xfrm>
          <a:prstGeom prst="rect">
            <a:avLst/>
          </a:prstGeom>
          <a:noFill/>
          <a:ln/>
        </p:spPr>
        <p:txBody>
          <a:bodyPr wrap="square" lIns="0" tIns="0" rIns="0" bIns="0" rtlCol="0" anchor="t"/>
          <a:lstStyle/>
          <a:p>
            <a:pPr marL="0" indent="0" algn="l">
              <a:buNone/>
            </a:pPr>
            <a:r>
              <a:rPr lang="en-US" sz="2400" b="1" dirty="0">
                <a:solidFill>
                  <a:srgbClr val="1F3A5F"/>
                </a:solidFill>
                <a:latin typeface="Georgia" pitchFamily="34" charset="0"/>
                <a:ea typeface="Georgia" pitchFamily="34" charset="-122"/>
                <a:cs typeface="Georgia" pitchFamily="34" charset="-120"/>
              </a:rPr>
              <a:t>3</a:t>
            </a:r>
            <a:endParaRPr lang="en-US" sz="2400" dirty="0"/>
          </a:p>
        </p:txBody>
      </p:sp>
      <p:sp>
        <p:nvSpPr>
          <p:cNvPr id="9" name="Text 6"/>
          <p:cNvSpPr txBox="1"/>
          <p:nvPr/>
        </p:nvSpPr>
        <p:spPr>
          <a:xfrm>
            <a:off x="960120" y="2395728"/>
            <a:ext cx="7635240" cy="457200"/>
          </a:xfrm>
          <a:prstGeom prst="rect">
            <a:avLst/>
          </a:prstGeom>
          <a:noFill/>
          <a:ln/>
        </p:spPr>
        <p:txBody>
          <a:bodyPr wrap="square" lIns="0" tIns="0" rIns="0" bIns="0" rtlCol="0" anchor="t"/>
          <a:lstStyle/>
          <a:p>
            <a:pPr marL="0" indent="0" algn="l">
              <a:buNone/>
            </a:pPr>
            <a:r>
              <a:rPr lang="en-US" sz="1600" dirty="0">
                <a:solidFill>
                  <a:srgbClr val="1A1A1A"/>
                </a:solidFill>
                <a:latin typeface="Calibri" pitchFamily="34" charset="0"/>
                <a:ea typeface="Calibri" pitchFamily="34" charset="-122"/>
                <a:cs typeface="Calibri" pitchFamily="34" charset="-120"/>
              </a:rPr>
              <a:t>Several smaller differences cannot be resolved with 50 queries.</a:t>
            </a:r>
            <a:endParaRPr lang="en-US" sz="1600" dirty="0"/>
          </a:p>
        </p:txBody>
      </p:sp>
      <p:sp>
        <p:nvSpPr>
          <p:cNvPr id="10" name="Shape 7"/>
          <p:cNvSpPr/>
          <p:nvPr/>
        </p:nvSpPr>
        <p:spPr>
          <a:xfrm>
            <a:off x="548640" y="3017520"/>
            <a:ext cx="8046720" cy="0"/>
          </a:xfrm>
          <a:prstGeom prst="line">
            <a:avLst/>
          </a:prstGeom>
          <a:noFill/>
          <a:ln w="9525">
            <a:solidFill>
              <a:srgbClr val="C3C9D0"/>
            </a:solidFill>
            <a:prstDash val="solid"/>
          </a:ln>
        </p:spPr>
        <p:txBody>
          <a:bodyPr/>
          <a:lstStyle/>
          <a:p>
            <a:endParaRPr lang="en-US"/>
          </a:p>
        </p:txBody>
      </p:sp>
      <p:sp>
        <p:nvSpPr>
          <p:cNvPr id="11" name="Text 8"/>
          <p:cNvSpPr txBox="1"/>
          <p:nvPr/>
        </p:nvSpPr>
        <p:spPr>
          <a:xfrm>
            <a:off x="548640" y="3127248"/>
            <a:ext cx="8046720" cy="502920"/>
          </a:xfrm>
          <a:prstGeom prst="rect">
            <a:avLst/>
          </a:prstGeom>
          <a:noFill/>
          <a:ln/>
        </p:spPr>
        <p:txBody>
          <a:bodyPr wrap="square" lIns="0" tIns="0" rIns="0" bIns="0" rtlCol="0" anchor="t"/>
          <a:lstStyle/>
          <a:p>
            <a:pPr marL="0" indent="0" algn="l">
              <a:buNone/>
            </a:pPr>
            <a:r>
              <a:rPr lang="en-US" sz="1600" b="1" dirty="0">
                <a:solidFill>
                  <a:srgbClr val="1F3A5F"/>
                </a:solidFill>
                <a:latin typeface="Calibri" pitchFamily="34" charset="0"/>
                <a:ea typeface="Calibri" pitchFamily="34" charset="-122"/>
                <a:cs typeface="Calibri" pitchFamily="34" charset="-120"/>
              </a:rPr>
              <a:t>Recommendation: </a:t>
            </a:r>
            <a:r>
              <a:rPr lang="en-US" sz="1600" dirty="0">
                <a:solidFill>
                  <a:srgbClr val="1A1A1A"/>
                </a:solidFill>
                <a:latin typeface="Calibri" pitchFamily="34" charset="0"/>
                <a:ea typeface="Calibri" pitchFamily="34" charset="-122"/>
                <a:cs typeface="Calibri" pitchFamily="34" charset="-120"/>
              </a:rPr>
              <a:t>use a multilingual embedding model alone. MiniLM is a reasonable lighter choice.</a:t>
            </a:r>
            <a:endParaRPr lang="en-US" sz="1600" dirty="0"/>
          </a:p>
        </p:txBody>
      </p:sp>
      <p:sp>
        <p:nvSpPr>
          <p:cNvPr id="12" name="Text 9"/>
          <p:cNvSpPr txBox="1"/>
          <p:nvPr/>
        </p:nvSpPr>
        <p:spPr>
          <a:xfrm>
            <a:off x="548640" y="3675888"/>
            <a:ext cx="8046720" cy="256032"/>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Limitations: </a:t>
            </a:r>
            <a:r>
              <a:rPr lang="en-US" sz="1400" dirty="0">
                <a:solidFill>
                  <a:srgbClr val="1A1A1A"/>
                </a:solidFill>
                <a:latin typeface="Calibri" pitchFamily="34" charset="0"/>
                <a:ea typeface="Calibri" pitchFamily="34" charset="-122"/>
                <a:cs typeface="Calibri" pitchFamily="34" charset="-120"/>
              </a:rPr>
              <a:t>50 queries, one dataset of short machine-translated questions, incomplete labels.</a:t>
            </a:r>
            <a:endParaRPr lang="en-US" sz="1400" dirty="0"/>
          </a:p>
        </p:txBody>
      </p:sp>
      <p:sp>
        <p:nvSpPr>
          <p:cNvPr id="13" name="Text 10"/>
          <p:cNvSpPr txBox="1"/>
          <p:nvPr/>
        </p:nvSpPr>
        <p:spPr>
          <a:xfrm>
            <a:off x="548640" y="3950208"/>
            <a:ext cx="8046720" cy="256032"/>
          </a:xfrm>
          <a:prstGeom prst="rect">
            <a:avLst/>
          </a:prstGeom>
          <a:noFill/>
          <a:ln/>
        </p:spPr>
        <p:txBody>
          <a:bodyPr wrap="square" lIns="0" tIns="0" rIns="0" bIns="0" rtlCol="0" anchor="t"/>
          <a:lstStyle/>
          <a:p>
            <a:pPr marL="0" indent="0" algn="l">
              <a:buNone/>
            </a:pPr>
            <a:r>
              <a:rPr lang="en-US" sz="1400" b="1" dirty="0">
                <a:solidFill>
                  <a:srgbClr val="1A1A1A"/>
                </a:solidFill>
                <a:latin typeface="Calibri" pitchFamily="34" charset="0"/>
                <a:ea typeface="Calibri" pitchFamily="34" charset="-122"/>
                <a:cs typeface="Calibri" pitchFamily="34" charset="-120"/>
              </a:rPr>
              <a:t>Future work: </a:t>
            </a:r>
            <a:r>
              <a:rPr lang="en-US" sz="1400" dirty="0">
                <a:solidFill>
                  <a:srgbClr val="1A1A1A"/>
                </a:solidFill>
                <a:latin typeface="Calibri" pitchFamily="34" charset="0"/>
                <a:ea typeface="Calibri" pitchFamily="34" charset="-122"/>
                <a:cs typeface="Calibri" pitchFamily="34" charset="-120"/>
              </a:rPr>
              <a:t>weighted fusion, a reranker, longer documents, English-to-Hindi search.</a:t>
            </a:r>
            <a:endParaRPr lang="en-US" sz="1400" dirty="0"/>
          </a:p>
        </p:txBody>
      </p:sp>
      <p:sp>
        <p:nvSpPr>
          <p:cNvPr id="14" name="Text 11"/>
          <p:cNvSpPr txBox="1"/>
          <p:nvPr/>
        </p:nvSpPr>
        <p:spPr>
          <a:xfrm>
            <a:off x="548640" y="4251960"/>
            <a:ext cx="8046720" cy="411480"/>
          </a:xfrm>
          <a:prstGeom prst="rect">
            <a:avLst/>
          </a:prstGeom>
          <a:noFill/>
          <a:ln/>
        </p:spPr>
        <p:txBody>
          <a:bodyPr wrap="square" lIns="0" tIns="0" rIns="0" bIns="0" rtlCol="0" anchor="ctr"/>
          <a:lstStyle/>
          <a:p>
            <a:pPr marL="0" indent="0" algn="l">
              <a:buNone/>
            </a:pPr>
            <a:r>
              <a:rPr lang="en-US" sz="2400" b="1" dirty="0">
                <a:solidFill>
                  <a:srgbClr val="1F3A5F"/>
                </a:solidFill>
                <a:latin typeface="Georgia" pitchFamily="34" charset="0"/>
                <a:ea typeface="Georgia" pitchFamily="34" charset="-122"/>
                <a:cs typeface="Georgia" pitchFamily="34" charset="-120"/>
              </a:rPr>
              <a:t>Thank you.</a:t>
            </a:r>
            <a:endParaRPr lang="en-US" sz="2400" dirty="0"/>
          </a:p>
        </p:txBody>
      </p:sp>
      <p:sp>
        <p:nvSpPr>
          <p:cNvPr id="25" name="Slide Number Placeholder 0"/>
          <p:cNvSpPr>
            <a:spLocks noGrp="1"/>
          </p:cNvSpPr>
          <p:nvPr>
            <p:ph type="sldNum" sz="quarter" idx="4294967295"/>
          </p:nvPr>
        </p:nvSpPr>
        <p:spPr>
          <a:xfrm>
            <a:off x="7680960" y="4727448"/>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C7A89"/>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Hindi Search">
  <a:themeElements>
    <a:clrScheme name="Hindi Search">
      <a:dk1>
        <a:srgbClr val="1A1A1A"/>
      </a:dk1>
      <a:lt1>
        <a:srgbClr val="FFFFFF"/>
      </a:lt1>
      <a:dk2>
        <a:srgbClr val="1F3A5F"/>
      </a:dk2>
      <a:lt2>
        <a:srgbClr val="C3C9D0"/>
      </a:lt2>
      <a:accent1>
        <a:srgbClr val="1F3A5F"/>
      </a:accent1>
      <a:accent2>
        <a:srgbClr val="6C7A89"/>
      </a:accent2>
      <a:accent3>
        <a:srgbClr val="C3C9D0"/>
      </a:accent3>
      <a:accent4>
        <a:srgbClr val="8E3B2F"/>
      </a:accent4>
      <a:accent5>
        <a:srgbClr val="1F3A5F"/>
      </a:accent5>
      <a:accent6>
        <a:srgbClr val="6C7A89"/>
      </a:accent6>
      <a:hlink>
        <a:srgbClr val="1F3A5F"/>
      </a:hlink>
      <a:folHlink>
        <a:srgbClr val="6C7A89"/>
      </a:folHlink>
    </a:clrScheme>
    <a:fontScheme name="Hindi Searc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2172</Words>
  <Application>Microsoft Office PowerPoint</Application>
  <PresentationFormat>On-screen Show (16:9)</PresentationFormat>
  <Paragraphs>221</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Georgia</vt:lpstr>
      <vt:lpstr>Nirmala UI</vt:lpstr>
      <vt:lpstr>Hindi Search</vt:lpstr>
      <vt:lpstr>PowerPoint Presentation</vt:lpstr>
      <vt:lpstr>Words versus meaning</vt:lpstr>
      <vt:lpstr>The dataset</vt:lpstr>
      <vt:lpstr>Six methods, one pipeline</vt:lpstr>
      <vt:lpstr>Auditing the baseline tokenizer</vt:lpstr>
      <vt:lpstr>How we evaluate</vt:lpstr>
      <vt:lpstr>Main result: embeddings lead</vt:lpstr>
      <vt:lpstr>Are the differences real?</vt:lpstr>
      <vt:lpstr>Why embeddings win</vt:lpstr>
      <vt:lpstr>A negative result: the hybrid hurt</vt:lpstr>
      <vt:lpstr>Conclusions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Search for Hindi Documents using Sentence Embeddings</dc:title>
  <dc:subject>PptxGenJS Presentation</dc:subject>
  <dc:creator>Abhinav Marlingaplar, Saksham Saklani</dc:creator>
  <cp:lastModifiedBy>Abhinav Marlingaplar</cp:lastModifiedBy>
  <cp:revision>2</cp:revision>
  <dcterms:created xsi:type="dcterms:W3CDTF">2026-10-08T05:16:34Z</dcterms:created>
  <dcterms:modified xsi:type="dcterms:W3CDTF">2026-10-11T10:10:00Z</dcterms:modified>
</cp:coreProperties>
</file>